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85" r:id="rId2"/>
    <p:sldId id="256" r:id="rId3"/>
    <p:sldId id="277" r:id="rId4"/>
    <p:sldId id="278" r:id="rId5"/>
    <p:sldId id="284" r:id="rId6"/>
    <p:sldId id="279" r:id="rId7"/>
    <p:sldId id="289" r:id="rId8"/>
    <p:sldId id="280" r:id="rId9"/>
    <p:sldId id="281" r:id="rId10"/>
    <p:sldId id="282" r:id="rId11"/>
    <p:sldId id="283" r:id="rId12"/>
    <p:sldId id="286" r:id="rId13"/>
    <p:sldId id="287" r:id="rId14"/>
    <p:sldId id="288" r:id="rId15"/>
    <p:sldId id="290" r:id="rId16"/>
    <p:sldId id="291" r:id="rId17"/>
    <p:sldId id="292" r:id="rId18"/>
    <p:sldId id="293" r:id="rId19"/>
    <p:sldId id="294" r:id="rId20"/>
    <p:sldId id="295" r:id="rId21"/>
    <p:sldId id="297" r:id="rId22"/>
    <p:sldId id="296" r:id="rId23"/>
    <p:sldId id="298" r:id="rId24"/>
    <p:sldId id="299" r:id="rId25"/>
    <p:sldId id="301" r:id="rId26"/>
    <p:sldId id="300" r:id="rId27"/>
    <p:sldId id="302" r:id="rId28"/>
    <p:sldId id="303" r:id="rId29"/>
    <p:sldId id="30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638" y="6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04C74-76C9-4E2B-9D33-614FE693CE4D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4CF77-F79A-4ABD-856B-3E41DBC3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455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4CF77-F79A-4ABD-856B-3E41DBC3D6E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56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85BC-83B3-B506-86B6-1A1C0547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BC3814-680A-A13B-79F8-34C2BE2D5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282D08-E4ED-D149-FF88-494E1AB3F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449E72-9878-8815-8A14-FC1DD0469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4CF77-F79A-4ABD-856B-3E41DBC3D6E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467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7379-EE7C-AE3D-C6A6-B6C7C81A7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3ABE1D-904E-D940-11F0-0A53E27D6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F081D4-75AA-E356-129A-0391B4D21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FD6A69-4500-4156-1BA1-18058E7E6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4CF77-F79A-4ABD-856B-3E41DBC3D6E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324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88971-9A39-1FF2-D606-48F5EBED0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CFECB8-3B41-2E8A-AA03-2BE384AF0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0AFE2-A255-2C57-CEB2-2E5A46AA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1E68EA-6CA2-7E35-A3F8-90D0B173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9D0AA-3FE3-CF97-D2DC-89D4A229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20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C77F6-45CA-A99A-B79A-EBDF8E43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468C58-D320-86F5-BF21-198AD2D33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557644-41F4-80E0-ABDE-D4C68F23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909B79-E5EC-792E-4E27-77147BDB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0FE69B-5A48-798F-5766-44291408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27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FB6F1-570A-1ACF-69D1-BFB21955F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6A058D-9B09-A71C-E2FC-F99A70916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F38462-E6A0-55D6-FF32-4959BF044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1A62CB-D510-98C5-B37E-3D198731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BE62-BCD3-07F8-E904-59472BBC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69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32474-A6F7-F8E1-7922-5D54E677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6CAB97-C140-A8FA-8F1E-428A7ADA2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718DD9-DB62-965F-F8C0-C2AD3DBCF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EA4159-58C5-7CAC-59FA-E4C41555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229D48-ABE8-8B0E-78D6-0E0FCDE62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757F27-7A88-6585-B3C8-FB9ACA88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54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7FA927-F5F1-5E94-370E-BB90FF1A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4791F-58F8-11CA-81FC-2E0E5B0F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4A682E-DB8E-F40C-86ED-1E37AE190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5F8858-BB85-640A-6B1A-FC64D8518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2022B8-7DA8-3174-82F3-515702BBE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85E7329-5611-5717-BD41-050F2F6D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812F423-B340-67A8-4D16-DDD9674A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D74FC7-FFD6-F4F9-AAEE-6EA62BBB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00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9A314-CF60-83A4-C69D-55EAF349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D92C26-A441-BBF8-B073-3273A914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EACF2F-3F63-F2C6-5A55-C721D942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DAA7CF-A2A5-C274-2C5F-ACB06F3C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85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CECF61-E4FB-03D8-9B52-A43A95F94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4177A7-F2A9-6872-99A4-AB089F05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B7923-05B2-0A65-DBAA-8A4CF96D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06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4A1FD-CE34-5352-BBD0-4FC1EB68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F5631E-42B0-FFEC-048B-247836037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74CC74-5DD5-A481-40E1-735643264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3A2CC6-5BAA-291D-318D-29D583CC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95D8AC-0C5C-5045-F365-BA0EC8E8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9137AD-427D-8F0E-2D55-69409358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63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B75C7-915F-3BCB-E2CE-DCDCB160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B6E36D-9CC7-3028-B28D-EBBF8A3CE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38E488-073F-B5FC-765B-2386FF761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64E731-A8A9-A834-66E1-B5A3A1C0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CABA6B-C88B-63F9-29F1-1EF6B3169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F9925C-3865-D682-2AF9-DCA90D6D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23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E2012-4130-BAB9-1208-4B2BB78B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164628-97AB-50EB-795D-883F55FBD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4DB98A-7A89-834A-D7AA-BEDA5EBA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7653A8-DDD0-C4A3-BA04-1E3FD397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97C28-AACA-50F3-F70D-173CD278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75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CA2FDC-DC2C-7653-BAF1-7C615DD50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5158A0-B5A5-CA70-FAB6-2C38B21BE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93406-0E8E-E14C-12EB-F6F70FA1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268223-E2BE-05CD-A25F-A8A415A08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B041-88AF-3A12-4790-7E4591C8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26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25115E-F0C2-677F-421D-83CFDEA5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3AC68B-4CD9-291C-AD0D-F49299EFC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BED2C-A059-4573-650A-58910E2C8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D94E0-3654-4959-919F-398A0A023D6A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0090DB-B7F7-FCB2-C413-9E9DBD863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0C26F7-5E38-9EF9-8CEF-C01C554F8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F5ED3-FB4C-4605-96F8-0416EE28E9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04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C2B9-9547-0480-CFEA-9847A57D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9EE7D1E-86E1-0899-324D-4B8748329B86}"/>
              </a:ext>
            </a:extLst>
          </p:cNvPr>
          <p:cNvSpPr/>
          <p:nvPr/>
        </p:nvSpPr>
        <p:spPr>
          <a:xfrm>
            <a:off x="1624739" y="2154265"/>
            <a:ext cx="8942522" cy="2549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b="1" dirty="0"/>
              <a:t>이미지 뷰어</a:t>
            </a:r>
          </a:p>
        </p:txBody>
      </p:sp>
    </p:spTree>
    <p:extLst>
      <p:ext uri="{BB962C8B-B14F-4D97-AF65-F5344CB8AC3E}">
        <p14:creationId xmlns:p14="http://schemas.microsoft.com/office/powerpoint/2010/main" val="2452802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9E0CB28-822F-3579-1707-9D7FE77CA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" y="1124189"/>
            <a:ext cx="10082400" cy="5355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B5215E04-6B19-747F-BD23-4567C5C2089A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/>
              <a:t>1. </a:t>
            </a:r>
            <a:r>
              <a:rPr lang="ko-KR" altLang="en-US" sz="3200"/>
              <a:t>이미지 뷰어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8163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4429-5CC3-976C-E6F3-339E255B1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3399A54-AAA8-B823-F0AD-0164A4312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00" y="235525"/>
            <a:ext cx="11283000" cy="642875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이미지 뷰어 </a:t>
            </a:r>
            <a:r>
              <a:rPr lang="en-US" altLang="ko-KR" sz="3200" dirty="0"/>
              <a:t>- </a:t>
            </a:r>
            <a:r>
              <a:rPr lang="ko-KR" altLang="en-US" sz="3200" dirty="0"/>
              <a:t>서버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CA0E7-BA5C-737D-F1D2-54F51EE68110}"/>
              </a:ext>
            </a:extLst>
          </p:cNvPr>
          <p:cNvSpPr txBox="1"/>
          <p:nvPr/>
        </p:nvSpPr>
        <p:spPr>
          <a:xfrm>
            <a:off x="698400" y="974534"/>
            <a:ext cx="11039100" cy="5440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기존 배포한 모델이 추론한 결과를 확인하기 위함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서버설정</a:t>
            </a:r>
            <a:r>
              <a:rPr lang="en-US" altLang="ko-KR" dirty="0"/>
              <a:t>: </a:t>
            </a:r>
            <a:r>
              <a:rPr lang="en-US" altLang="ko-KR" dirty="0" err="1"/>
              <a:t>Gradio</a:t>
            </a:r>
            <a:r>
              <a:rPr lang="ko-KR" altLang="en-US" dirty="0"/>
              <a:t> </a:t>
            </a:r>
            <a:r>
              <a:rPr lang="en-US" altLang="ko-KR" dirty="0"/>
              <a:t>MLOps</a:t>
            </a:r>
            <a:r>
              <a:rPr lang="ko-KR" altLang="en-US" dirty="0"/>
              <a:t>가 동작하는 서버에서 원본 이미지</a:t>
            </a:r>
            <a:r>
              <a:rPr lang="en-US" altLang="ko-KR" dirty="0"/>
              <a:t>, </a:t>
            </a:r>
            <a:r>
              <a:rPr lang="ko-KR" altLang="en-US" dirty="0"/>
              <a:t>추론결과 </a:t>
            </a:r>
            <a:r>
              <a:rPr lang="en-US" altLang="ko-KR" dirty="0"/>
              <a:t>txt</a:t>
            </a:r>
            <a:r>
              <a:rPr lang="ko-KR" altLang="en-US" dirty="0"/>
              <a:t>가 존재하는 경로 지정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1) </a:t>
            </a:r>
            <a:r>
              <a:rPr lang="ko-KR" altLang="en-US" dirty="0"/>
              <a:t>우측상단 드롭다운 버튼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2) </a:t>
            </a:r>
            <a:r>
              <a:rPr lang="ko-KR" altLang="en-US" dirty="0"/>
              <a:t>원본 이미지 저장된 경로 지정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3) </a:t>
            </a:r>
            <a:r>
              <a:rPr lang="ko-KR" altLang="en-US" dirty="0"/>
              <a:t>추론결과 </a:t>
            </a:r>
            <a:r>
              <a:rPr lang="en-US" altLang="ko-KR" dirty="0"/>
              <a:t>txt </a:t>
            </a:r>
            <a:r>
              <a:rPr lang="ko-KR" altLang="en-US" dirty="0"/>
              <a:t>파일 저장된 경로 지정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4) </a:t>
            </a:r>
            <a:r>
              <a:rPr lang="ko-KR" altLang="en-US" dirty="0"/>
              <a:t>서버로 설정 버튼 클릭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지정된 경로의 원본 이미지 자동 출력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5) </a:t>
            </a:r>
            <a:r>
              <a:rPr lang="ko-KR" altLang="en-US" dirty="0"/>
              <a:t>추론결과 불러오기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지정된 경로의 원본 이미지와 동일한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      txt </a:t>
            </a:r>
            <a:r>
              <a:rPr lang="ko-KR" altLang="en-US" dirty="0">
                <a:sym typeface="Wingdings" panose="05000000000000000000" pitchFamily="2" charset="2"/>
              </a:rPr>
              <a:t>파일을 바탕으로 추론결과를 그림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E0F97D9-B478-AE85-B293-660A4B6CA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038" y="2034871"/>
            <a:ext cx="6200562" cy="19351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6DD08C-3B4E-B923-D8C9-3D022AEDDF53}"/>
              </a:ext>
            </a:extLst>
          </p:cNvPr>
          <p:cNvSpPr/>
          <p:nvPr/>
        </p:nvSpPr>
        <p:spPr>
          <a:xfrm>
            <a:off x="5371215" y="2470781"/>
            <a:ext cx="1974102" cy="1956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47EB35-9B86-F958-3272-27D263991380}"/>
              </a:ext>
            </a:extLst>
          </p:cNvPr>
          <p:cNvSpPr/>
          <p:nvPr/>
        </p:nvSpPr>
        <p:spPr>
          <a:xfrm>
            <a:off x="7472034" y="2568628"/>
            <a:ext cx="1887402" cy="1956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2DB5B1-2A74-8E19-2E74-DDC64B024DBC}"/>
              </a:ext>
            </a:extLst>
          </p:cNvPr>
          <p:cNvSpPr/>
          <p:nvPr/>
        </p:nvSpPr>
        <p:spPr>
          <a:xfrm>
            <a:off x="9441830" y="2193167"/>
            <a:ext cx="1942909" cy="1365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CDA58CC-CB26-6F39-E011-93BA1C68EECC}"/>
              </a:ext>
            </a:extLst>
          </p:cNvPr>
          <p:cNvSpPr/>
          <p:nvPr/>
        </p:nvSpPr>
        <p:spPr>
          <a:xfrm>
            <a:off x="11282547" y="2070289"/>
            <a:ext cx="179598" cy="1228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B7D4F3-7CE9-C78B-6FE0-0A8E9EAA1991}"/>
              </a:ext>
            </a:extLst>
          </p:cNvPr>
          <p:cNvSpPr txBox="1"/>
          <p:nvPr/>
        </p:nvSpPr>
        <p:spPr>
          <a:xfrm>
            <a:off x="10976547" y="1766221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D397D0-912C-F997-C221-3E29A2971E66}"/>
              </a:ext>
            </a:extLst>
          </p:cNvPr>
          <p:cNvSpPr txBox="1"/>
          <p:nvPr/>
        </p:nvSpPr>
        <p:spPr>
          <a:xfrm>
            <a:off x="5314954" y="2151140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60F055-3420-4F78-96F7-43D173EF4EC9}"/>
              </a:ext>
            </a:extLst>
          </p:cNvPr>
          <p:cNvSpPr txBox="1"/>
          <p:nvPr/>
        </p:nvSpPr>
        <p:spPr>
          <a:xfrm>
            <a:off x="7438687" y="2219406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017B9E-FC39-CE0B-9030-8B0A19270102}"/>
              </a:ext>
            </a:extLst>
          </p:cNvPr>
          <p:cNvSpPr txBox="1"/>
          <p:nvPr/>
        </p:nvSpPr>
        <p:spPr>
          <a:xfrm>
            <a:off x="9341179" y="2250198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AA0B18C-F1C7-4947-4821-B689779A9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751" y="3457823"/>
            <a:ext cx="5371051" cy="32890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85947D-7683-79B2-AC04-F51FCE7DF3C3}"/>
              </a:ext>
            </a:extLst>
          </p:cNvPr>
          <p:cNvSpPr/>
          <p:nvPr/>
        </p:nvSpPr>
        <p:spPr>
          <a:xfrm>
            <a:off x="8618718" y="6461760"/>
            <a:ext cx="2597921" cy="2145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312902-BB70-2D11-8E07-8089D77CB109}"/>
              </a:ext>
            </a:extLst>
          </p:cNvPr>
          <p:cNvSpPr txBox="1"/>
          <p:nvPr/>
        </p:nvSpPr>
        <p:spPr>
          <a:xfrm>
            <a:off x="8484807" y="6089078"/>
            <a:ext cx="4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185026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C6986-B75F-2F1E-FD32-1F98095D7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7BD0E54-CE85-B631-E74E-7B59597FC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00" y="235525"/>
            <a:ext cx="11283000" cy="642875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이미지 뷰어 </a:t>
            </a:r>
            <a:r>
              <a:rPr lang="en-US" altLang="ko-KR" sz="3200" dirty="0"/>
              <a:t>- </a:t>
            </a:r>
            <a:r>
              <a:rPr lang="ko-KR" altLang="en-US" sz="3200" dirty="0"/>
              <a:t>로컬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86E2BD-4624-B2CC-B90F-A192B81498C4}"/>
              </a:ext>
            </a:extLst>
          </p:cNvPr>
          <p:cNvSpPr txBox="1"/>
          <p:nvPr/>
        </p:nvSpPr>
        <p:spPr>
          <a:xfrm>
            <a:off x="698400" y="974534"/>
            <a:ext cx="11039100" cy="5440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기존 배포한 모델이 추론한 결과를 확인하기 위함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로컬설정</a:t>
            </a:r>
            <a:r>
              <a:rPr lang="en-US" altLang="ko-KR" dirty="0"/>
              <a:t>: </a:t>
            </a:r>
            <a:r>
              <a:rPr lang="ko-KR" altLang="en-US" dirty="0"/>
              <a:t>사용자 </a:t>
            </a:r>
            <a:r>
              <a:rPr lang="en-US" altLang="ko-KR" dirty="0"/>
              <a:t>PC</a:t>
            </a:r>
            <a:r>
              <a:rPr lang="ko-KR" altLang="en-US" dirty="0"/>
              <a:t>에서 원본 이미지</a:t>
            </a:r>
            <a:r>
              <a:rPr lang="en-US" altLang="ko-KR" dirty="0"/>
              <a:t>, </a:t>
            </a:r>
            <a:r>
              <a:rPr lang="ko-KR" altLang="en-US" dirty="0"/>
              <a:t>추론결과 </a:t>
            </a:r>
            <a:r>
              <a:rPr lang="en-US" altLang="ko-KR" dirty="0"/>
              <a:t>txt</a:t>
            </a:r>
            <a:r>
              <a:rPr lang="ko-KR" altLang="en-US" dirty="0"/>
              <a:t>가 존재하는 경로 지정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1) </a:t>
            </a:r>
            <a:r>
              <a:rPr lang="ko-KR" altLang="en-US" dirty="0"/>
              <a:t>우측상단 드롭다운 버튼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2) </a:t>
            </a:r>
            <a:r>
              <a:rPr lang="ko-KR" altLang="en-US" dirty="0"/>
              <a:t>원본 이미지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3) </a:t>
            </a:r>
            <a:r>
              <a:rPr lang="ko-KR" altLang="en-US" dirty="0"/>
              <a:t>추론결과 </a:t>
            </a:r>
            <a:r>
              <a:rPr lang="en-US" altLang="ko-KR" dirty="0"/>
              <a:t>txt </a:t>
            </a:r>
            <a:r>
              <a:rPr lang="ko-KR" altLang="en-US" dirty="0"/>
              <a:t>파일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4) </a:t>
            </a:r>
            <a:r>
              <a:rPr lang="ko-KR" altLang="en-US" dirty="0"/>
              <a:t>로컬로 설정 버튼 클릭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지정된 경로의 원본 이미지 자동 출력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5) </a:t>
            </a:r>
            <a:r>
              <a:rPr lang="ko-KR" altLang="en-US" dirty="0"/>
              <a:t>추론결과 불러오기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지정된 경로의 원본 이미지와 동일한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      txt </a:t>
            </a:r>
            <a:r>
              <a:rPr lang="ko-KR" altLang="en-US" dirty="0">
                <a:sym typeface="Wingdings" panose="05000000000000000000" pitchFamily="2" charset="2"/>
              </a:rPr>
              <a:t>파일을 바탕으로 추론결과를 그림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60BFD7-B40E-5C41-72F1-E725C4A85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854" y="2001442"/>
            <a:ext cx="6704844" cy="2256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B4C95BD-4AB9-F615-2C9C-6B41C1513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1" y="4428811"/>
            <a:ext cx="3986401" cy="1815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A4AD5EF-3D5E-CA65-CBFF-783ED9E4C329}"/>
              </a:ext>
            </a:extLst>
          </p:cNvPr>
          <p:cNvSpPr/>
          <p:nvPr/>
        </p:nvSpPr>
        <p:spPr>
          <a:xfrm>
            <a:off x="5308169" y="2797444"/>
            <a:ext cx="2185262" cy="14606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8E5453B-CEE3-EAA0-B953-CAE0B849575C}"/>
              </a:ext>
            </a:extLst>
          </p:cNvPr>
          <p:cNvSpPr/>
          <p:nvPr/>
        </p:nvSpPr>
        <p:spPr>
          <a:xfrm>
            <a:off x="11736615" y="2674566"/>
            <a:ext cx="122400" cy="12287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D5CF1-6DA4-F551-7375-989DAF7EF566}"/>
              </a:ext>
            </a:extLst>
          </p:cNvPr>
          <p:cNvSpPr txBox="1"/>
          <p:nvPr/>
        </p:nvSpPr>
        <p:spPr>
          <a:xfrm>
            <a:off x="11416533" y="2405916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00174F-3D0D-7165-AC1A-1CBBAA15C125}"/>
              </a:ext>
            </a:extLst>
          </p:cNvPr>
          <p:cNvSpPr txBox="1"/>
          <p:nvPr/>
        </p:nvSpPr>
        <p:spPr>
          <a:xfrm>
            <a:off x="5249660" y="2909209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E203900-B72C-04C1-098B-D1B084796582}"/>
              </a:ext>
            </a:extLst>
          </p:cNvPr>
          <p:cNvCxnSpPr>
            <a:stCxn id="9" idx="2"/>
            <a:endCxn id="8" idx="0"/>
          </p:cNvCxnSpPr>
          <p:nvPr/>
        </p:nvCxnSpPr>
        <p:spPr>
          <a:xfrm rot="16200000" flipH="1">
            <a:off x="6847117" y="3811825"/>
            <a:ext cx="170669" cy="1063302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EFAAF128-997A-E279-0BD3-02BE8B9046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628"/>
          <a:stretch>
            <a:fillRect/>
          </a:stretch>
        </p:blipFill>
        <p:spPr>
          <a:xfrm>
            <a:off x="9912762" y="4428811"/>
            <a:ext cx="1976558" cy="181532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688AD38-7300-408D-B076-FF68D30E1FFB}"/>
              </a:ext>
            </a:extLst>
          </p:cNvPr>
          <p:cNvCxnSpPr>
            <a:stCxn id="8" idx="3"/>
            <a:endCxn id="28" idx="1"/>
          </p:cNvCxnSpPr>
          <p:nvPr/>
        </p:nvCxnSpPr>
        <p:spPr>
          <a:xfrm>
            <a:off x="9457302" y="5336474"/>
            <a:ext cx="45546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502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17CF8D5-2734-BD31-F6D4-E037A522D3C8}"/>
              </a:ext>
            </a:extLst>
          </p:cNvPr>
          <p:cNvSpPr/>
          <p:nvPr/>
        </p:nvSpPr>
        <p:spPr>
          <a:xfrm>
            <a:off x="1624739" y="2154265"/>
            <a:ext cx="8942522" cy="2549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/>
              <a:t>Dataset </a:t>
            </a:r>
            <a:r>
              <a:rPr lang="ko-KR" altLang="en-US" sz="5400" b="1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253660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8DE1-9EBC-68C0-3FB9-5377A317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1544482-901F-C649-652E-34B5CB16955E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2. Dataset </a:t>
            </a:r>
            <a:r>
              <a:rPr lang="ko-KR" altLang="en-US" sz="3200" dirty="0"/>
              <a:t>설정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240BA1-6BA1-7F62-F148-8AEA9B4F5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607" y="1083919"/>
            <a:ext cx="9046786" cy="55385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198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BF11-C647-92C9-39D2-D7BF35EE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0042C70-94E6-A5B5-3C76-4D5861AD308F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2. Dataset </a:t>
            </a:r>
            <a:r>
              <a:rPr lang="ko-KR" altLang="en-US" sz="3200" dirty="0"/>
              <a:t>설정 </a:t>
            </a:r>
            <a:r>
              <a:rPr lang="en-US" altLang="ko-KR" sz="3200" dirty="0"/>
              <a:t>– </a:t>
            </a:r>
            <a:r>
              <a:rPr lang="ko-KR" altLang="en-US" sz="3200" dirty="0"/>
              <a:t>로컬 데이터 업로드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FBB973-1538-6BFC-17AD-F92B315D28A3}"/>
              </a:ext>
            </a:extLst>
          </p:cNvPr>
          <p:cNvSpPr txBox="1"/>
          <p:nvPr/>
        </p:nvSpPr>
        <p:spPr>
          <a:xfrm>
            <a:off x="698400" y="974534"/>
            <a:ext cx="1103910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로컬에서 작업한 데이터셋을 서버 내 지정된 경로로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1) </a:t>
            </a:r>
            <a:r>
              <a:rPr lang="ko-KR" altLang="en-US" dirty="0"/>
              <a:t>저장 </a:t>
            </a:r>
            <a:r>
              <a:rPr lang="ko-KR" altLang="en-US" dirty="0" err="1"/>
              <a:t>폴더명</a:t>
            </a:r>
            <a:r>
              <a:rPr lang="ko-KR" altLang="en-US" dirty="0"/>
              <a:t> 지정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2) </a:t>
            </a:r>
            <a:r>
              <a:rPr lang="ko-KR" altLang="en-US" dirty="0"/>
              <a:t>이미지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3) txt </a:t>
            </a:r>
            <a:r>
              <a:rPr lang="ko-KR" altLang="en-US" dirty="0"/>
              <a:t>업로드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4) </a:t>
            </a:r>
            <a:r>
              <a:rPr lang="ko-KR" altLang="en-US" dirty="0"/>
              <a:t>서버로 업로드 저장</a:t>
            </a: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F455B7-587B-0C14-1A00-4D015D377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629" y="2349673"/>
            <a:ext cx="8274889" cy="43421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BBD9691-7E8D-BBD9-5D50-F50EFF3DA32D}"/>
              </a:ext>
            </a:extLst>
          </p:cNvPr>
          <p:cNvSpPr/>
          <p:nvPr/>
        </p:nvSpPr>
        <p:spPr>
          <a:xfrm>
            <a:off x="3746629" y="3011974"/>
            <a:ext cx="8274889" cy="16776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395B6-202D-8FC6-99AB-44EDE71B6BF6}"/>
              </a:ext>
            </a:extLst>
          </p:cNvPr>
          <p:cNvSpPr txBox="1"/>
          <p:nvPr/>
        </p:nvSpPr>
        <p:spPr>
          <a:xfrm>
            <a:off x="3632235" y="2283744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A537CF-5E39-07E7-4143-89095E7225E2}"/>
              </a:ext>
            </a:extLst>
          </p:cNvPr>
          <p:cNvSpPr/>
          <p:nvPr/>
        </p:nvSpPr>
        <p:spPr>
          <a:xfrm>
            <a:off x="3853476" y="2658981"/>
            <a:ext cx="1229967" cy="287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931A0-368C-1969-7C1B-E3BEFE92BDF8}"/>
              </a:ext>
            </a:extLst>
          </p:cNvPr>
          <p:cNvSpPr txBox="1"/>
          <p:nvPr/>
        </p:nvSpPr>
        <p:spPr>
          <a:xfrm>
            <a:off x="3304147" y="2946045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69ABCDB-6938-F461-6E60-DF0CE8D6C32A}"/>
              </a:ext>
            </a:extLst>
          </p:cNvPr>
          <p:cNvSpPr/>
          <p:nvPr/>
        </p:nvSpPr>
        <p:spPr>
          <a:xfrm>
            <a:off x="3746629" y="4710570"/>
            <a:ext cx="8274889" cy="16776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1CD9D5-4147-2127-2731-6B12BE12A2E5}"/>
              </a:ext>
            </a:extLst>
          </p:cNvPr>
          <p:cNvSpPr txBox="1"/>
          <p:nvPr/>
        </p:nvSpPr>
        <p:spPr>
          <a:xfrm>
            <a:off x="3304147" y="4660873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③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9A3AA58-8B55-25E5-E914-E1DB6A5A8CBA}"/>
              </a:ext>
            </a:extLst>
          </p:cNvPr>
          <p:cNvSpPr/>
          <p:nvPr/>
        </p:nvSpPr>
        <p:spPr>
          <a:xfrm>
            <a:off x="7206276" y="6388781"/>
            <a:ext cx="1229967" cy="287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B6DD44-8D66-766A-5763-A4350D7ABD01}"/>
              </a:ext>
            </a:extLst>
          </p:cNvPr>
          <p:cNvSpPr txBox="1"/>
          <p:nvPr/>
        </p:nvSpPr>
        <p:spPr>
          <a:xfrm>
            <a:off x="6763794" y="6368932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A6EE5C-8C81-A82B-8176-C70E52D5A742}"/>
              </a:ext>
            </a:extLst>
          </p:cNvPr>
          <p:cNvSpPr txBox="1"/>
          <p:nvPr/>
        </p:nvSpPr>
        <p:spPr>
          <a:xfrm>
            <a:off x="3689431" y="1452456"/>
            <a:ext cx="8389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Default</a:t>
            </a:r>
            <a:r>
              <a:rPr lang="ko-KR" altLang="en-US" sz="1200" dirty="0"/>
              <a:t> 저장 경로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seonge_gradio</a:t>
            </a:r>
            <a:r>
              <a:rPr lang="en-US" altLang="ko-KR" sz="1200" dirty="0"/>
              <a:t>/</a:t>
            </a:r>
            <a:r>
              <a:rPr lang="en-US" altLang="ko-KR" sz="1200" dirty="0" err="1"/>
              <a:t>test_yolo_project</a:t>
            </a:r>
            <a:r>
              <a:rPr lang="en-US" altLang="ko-KR" sz="1200" dirty="0"/>
              <a:t>/</a:t>
            </a:r>
            <a:r>
              <a:rPr lang="en-US" altLang="ko-KR" sz="1200" dirty="0" err="1"/>
              <a:t>datasets_for_labeling</a:t>
            </a:r>
            <a:r>
              <a:rPr lang="en-US" altLang="ko-KR" sz="1200" dirty="0"/>
              <a:t>/&lt;</a:t>
            </a:r>
            <a:r>
              <a:rPr lang="ko-KR" altLang="en-US" sz="1200" dirty="0" err="1"/>
              <a:t>폴더명</a:t>
            </a:r>
            <a:r>
              <a:rPr lang="en-US" altLang="ko-KR" sz="1200" dirty="0"/>
              <a:t>&gt;/</a:t>
            </a:r>
            <a:r>
              <a:rPr lang="en-US" altLang="ko-KR" sz="1200" dirty="0" err="1"/>
              <a:t>images,labels</a:t>
            </a:r>
            <a:r>
              <a:rPr lang="en-US" altLang="ko-KR" sz="1200" dirty="0"/>
              <a:t> </a:t>
            </a:r>
            <a:r>
              <a:rPr lang="ko-KR" altLang="en-US" sz="1200" dirty="0"/>
              <a:t>저장</a:t>
            </a:r>
            <a:endParaRPr lang="en-US" altLang="ko-KR" sz="1200" dirty="0"/>
          </a:p>
          <a:p>
            <a:r>
              <a:rPr lang="en-US" altLang="ko-KR" sz="1200" dirty="0"/>
              <a:t>core </a:t>
            </a:r>
            <a:r>
              <a:rPr lang="ko-KR" altLang="en-US" sz="1200" dirty="0"/>
              <a:t>패키지 </a:t>
            </a:r>
            <a:r>
              <a:rPr lang="en-US" altLang="ko-KR" sz="1200" dirty="0"/>
              <a:t>config.py</a:t>
            </a:r>
            <a:r>
              <a:rPr lang="ko-KR" altLang="en-US" sz="1200" dirty="0"/>
              <a:t> 설정파일로 수정 가능</a:t>
            </a:r>
            <a:endParaRPr lang="en-US" altLang="ko-KR" sz="1200" dirty="0"/>
          </a:p>
          <a:p>
            <a:r>
              <a:rPr lang="en-US" altLang="ko-KR" sz="1200" dirty="0"/>
              <a:t> - </a:t>
            </a:r>
            <a:r>
              <a:rPr lang="en-US" altLang="ko-KR" sz="1200" dirty="0" err="1"/>
              <a:t>UPLOAD_ROOT</a:t>
            </a:r>
            <a:r>
              <a:rPr lang="en-US" altLang="ko-KR" sz="1200" dirty="0"/>
              <a:t> = "/home/</a:t>
            </a:r>
            <a:r>
              <a:rPr lang="en-US" altLang="ko-KR" sz="1200" dirty="0" err="1"/>
              <a:t>gpuadmin</a:t>
            </a:r>
            <a:r>
              <a:rPr lang="en-US" altLang="ko-KR" sz="1200" dirty="0"/>
              <a:t>/seongje_gradio2/</a:t>
            </a:r>
            <a:r>
              <a:rPr lang="en-US" altLang="ko-KR" sz="1200" dirty="0" err="1"/>
              <a:t>test_yolo_project</a:t>
            </a:r>
            <a:r>
              <a:rPr lang="en-US" altLang="ko-KR" sz="1200" dirty="0"/>
              <a:t>"</a:t>
            </a:r>
          </a:p>
          <a:p>
            <a:r>
              <a:rPr lang="en-US" altLang="ko-KR" sz="1200" dirty="0"/>
              <a:t> - </a:t>
            </a:r>
            <a:r>
              <a:rPr lang="en-US" altLang="ko-KR" sz="1200" dirty="0" err="1"/>
              <a:t>UPLOAD_NEWDATASET_ROOT</a:t>
            </a:r>
            <a:r>
              <a:rPr lang="en-US" altLang="ko-KR" sz="1200" dirty="0"/>
              <a:t> = f"{</a:t>
            </a:r>
            <a:r>
              <a:rPr lang="en-US" altLang="ko-KR" sz="1200" dirty="0" err="1"/>
              <a:t>UPLOAD_ROOT</a:t>
            </a:r>
            <a:r>
              <a:rPr lang="en-US" altLang="ko-KR" sz="1200" dirty="0"/>
              <a:t>}/</a:t>
            </a:r>
            <a:r>
              <a:rPr lang="en-US" altLang="ko-KR" sz="1200" dirty="0" err="1"/>
              <a:t>datasets_for_labeling</a:t>
            </a:r>
            <a:r>
              <a:rPr lang="en-US" altLang="ko-KR" sz="1200" dirty="0"/>
              <a:t>"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33204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415A-023A-F537-7A5E-68CB48384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FDAE74F-95B7-8BB1-BE3F-D958F61F97D5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2. Dataset </a:t>
            </a:r>
            <a:r>
              <a:rPr lang="ko-KR" altLang="en-US" sz="3200" dirty="0"/>
              <a:t>설정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3B72F-B013-2A90-C9EF-3F1A66CAC942}"/>
              </a:ext>
            </a:extLst>
          </p:cNvPr>
          <p:cNvSpPr txBox="1"/>
          <p:nvPr/>
        </p:nvSpPr>
        <p:spPr>
          <a:xfrm>
            <a:off x="698400" y="974534"/>
            <a:ext cx="11039100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모델 </a:t>
            </a:r>
            <a:r>
              <a:rPr lang="en-US" altLang="ko-KR" dirty="0"/>
              <a:t>train</a:t>
            </a:r>
            <a:r>
              <a:rPr lang="ko-KR" altLang="en-US" dirty="0"/>
              <a:t>을 위한 학습 데이터셋 구축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동작방식</a:t>
            </a:r>
            <a:r>
              <a:rPr lang="en-US" altLang="ko-KR" dirty="0"/>
              <a:t>: </a:t>
            </a:r>
            <a:r>
              <a:rPr lang="ko-KR" altLang="en-US" dirty="0"/>
              <a:t>로컬에서 작업한 데이터셋을 서버 내 지정된 경로로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         </a:t>
            </a:r>
            <a:r>
              <a:rPr lang="ko-KR" altLang="en-US" dirty="0"/>
              <a:t>사용자의 설정에 따라</a:t>
            </a:r>
            <a:r>
              <a:rPr lang="en-US" altLang="ko-KR" dirty="0"/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       </a:t>
            </a:r>
            <a:r>
              <a:rPr lang="ko-KR" altLang="en-US" dirty="0"/>
              <a:t>기존 데이터셋과 업로드한 신규 데이터셋을 결합 또는 신규 데이터셋 만 활용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1) </a:t>
            </a:r>
            <a:r>
              <a:rPr lang="ko-KR" altLang="en-US" dirty="0"/>
              <a:t>기존 데이터셋 활용 여부 체크 </a:t>
            </a:r>
            <a:r>
              <a:rPr lang="en-US" altLang="ko-KR" dirty="0"/>
              <a:t>(Yes or No)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2) (Yes</a:t>
            </a:r>
            <a:r>
              <a:rPr lang="ko-KR" altLang="en-US" dirty="0"/>
              <a:t>일 경우</a:t>
            </a:r>
            <a:r>
              <a:rPr lang="en-US" altLang="ko-KR" dirty="0"/>
              <a:t>) </a:t>
            </a:r>
            <a:r>
              <a:rPr lang="ko-KR" altLang="en-US" dirty="0"/>
              <a:t>기존 데이터셋 경로 설정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6B914B-453E-D283-6087-451B15FF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877" y="2999550"/>
            <a:ext cx="6662123" cy="34167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D9D1849-4C1C-E767-6F3C-7E4EFB979222}"/>
              </a:ext>
            </a:extLst>
          </p:cNvPr>
          <p:cNvSpPr/>
          <p:nvPr/>
        </p:nvSpPr>
        <p:spPr>
          <a:xfrm>
            <a:off x="5529876" y="5377912"/>
            <a:ext cx="2606733" cy="505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25D83-CF6E-B95B-5BD2-F51D87D6DBF0}"/>
              </a:ext>
            </a:extLst>
          </p:cNvPr>
          <p:cNvSpPr txBox="1"/>
          <p:nvPr/>
        </p:nvSpPr>
        <p:spPr>
          <a:xfrm>
            <a:off x="5488664" y="3146470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335A52-7C04-25A2-46D0-2C05F2B18E40}"/>
              </a:ext>
            </a:extLst>
          </p:cNvPr>
          <p:cNvSpPr/>
          <p:nvPr/>
        </p:nvSpPr>
        <p:spPr>
          <a:xfrm>
            <a:off x="5604785" y="3510021"/>
            <a:ext cx="966496" cy="294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276BF-9895-EA5B-1B56-4797110AA1F1}"/>
              </a:ext>
            </a:extLst>
          </p:cNvPr>
          <p:cNvSpPr txBox="1"/>
          <p:nvPr/>
        </p:nvSpPr>
        <p:spPr>
          <a:xfrm>
            <a:off x="5475313" y="4998971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907615-40F9-F66F-A00E-130757F59817}"/>
              </a:ext>
            </a:extLst>
          </p:cNvPr>
          <p:cNvSpPr/>
          <p:nvPr/>
        </p:nvSpPr>
        <p:spPr>
          <a:xfrm>
            <a:off x="8239497" y="3257243"/>
            <a:ext cx="3872428" cy="152398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0070C0"/>
                </a:solidFill>
              </a:rPr>
              <a:t>로그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6685D6-D15B-6963-CDFB-33434B3339AE}"/>
              </a:ext>
            </a:extLst>
          </p:cNvPr>
          <p:cNvSpPr/>
          <p:nvPr/>
        </p:nvSpPr>
        <p:spPr>
          <a:xfrm>
            <a:off x="8239497" y="4825193"/>
            <a:ext cx="3872428" cy="84718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70C0"/>
                </a:solidFill>
              </a:rPr>
              <a:t>Train / Val </a:t>
            </a:r>
            <a:r>
              <a:rPr lang="ko-KR" altLang="en-US" dirty="0">
                <a:solidFill>
                  <a:srgbClr val="0070C0"/>
                </a:solidFill>
              </a:rPr>
              <a:t>비율 확인</a:t>
            </a:r>
          </a:p>
        </p:txBody>
      </p:sp>
    </p:spTree>
    <p:extLst>
      <p:ext uri="{BB962C8B-B14F-4D97-AF65-F5344CB8AC3E}">
        <p14:creationId xmlns:p14="http://schemas.microsoft.com/office/powerpoint/2010/main" val="41498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18004-9979-94FC-17B6-06EB113F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542B8B2C-BD58-B250-5DF5-1A0F89C9D699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2. Dataset </a:t>
            </a:r>
            <a:r>
              <a:rPr lang="ko-KR" altLang="en-US" sz="3200" dirty="0"/>
              <a:t>설정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3472F3-AABC-2DC6-5CD8-F094EDDA5DA0}"/>
              </a:ext>
            </a:extLst>
          </p:cNvPr>
          <p:cNvSpPr txBox="1"/>
          <p:nvPr/>
        </p:nvSpPr>
        <p:spPr>
          <a:xfrm>
            <a:off x="698400" y="974534"/>
            <a:ext cx="11039100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가정</a:t>
            </a:r>
            <a:r>
              <a:rPr lang="en-US" altLang="ko-KR" b="1" dirty="0"/>
              <a:t>: </a:t>
            </a:r>
            <a:r>
              <a:rPr lang="ko-KR" altLang="en-US" b="1" dirty="0"/>
              <a:t>로컬에서 작업한 학습데이터를 업로드 완료함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3) </a:t>
            </a:r>
            <a:r>
              <a:rPr lang="ko-KR" altLang="en-US" dirty="0"/>
              <a:t>이번 데이터셋 경로 선택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신규 이미지 목록 확인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35B05A-3575-5672-57F5-05764E2A2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059" y="1892376"/>
            <a:ext cx="7911633" cy="42681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E2560F-88D1-7B24-C17F-6B3C79E65234}"/>
              </a:ext>
            </a:extLst>
          </p:cNvPr>
          <p:cNvSpPr/>
          <p:nvPr/>
        </p:nvSpPr>
        <p:spPr>
          <a:xfrm>
            <a:off x="4290011" y="4541002"/>
            <a:ext cx="2939948" cy="10693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EAE760-A3BC-69CA-A82E-2B7E3EC97921}"/>
              </a:ext>
            </a:extLst>
          </p:cNvPr>
          <p:cNvSpPr txBox="1"/>
          <p:nvPr/>
        </p:nvSpPr>
        <p:spPr>
          <a:xfrm>
            <a:off x="4145297" y="4197364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③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407645-E09B-FA14-CDC2-75E8F3A9DDDB}"/>
              </a:ext>
            </a:extLst>
          </p:cNvPr>
          <p:cNvSpPr/>
          <p:nvPr/>
        </p:nvSpPr>
        <p:spPr>
          <a:xfrm>
            <a:off x="7356092" y="1941530"/>
            <a:ext cx="4492361" cy="139835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신규 데이터셋 목록</a:t>
            </a:r>
          </a:p>
        </p:txBody>
      </p:sp>
    </p:spTree>
    <p:extLst>
      <p:ext uri="{BB962C8B-B14F-4D97-AF65-F5344CB8AC3E}">
        <p14:creationId xmlns:p14="http://schemas.microsoft.com/office/powerpoint/2010/main" val="34883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9E68-BC34-187B-7D60-92F1164E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EA9B9BB-9854-2EA1-AAE7-D7B2C32C29E9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2. Dataset </a:t>
            </a:r>
            <a:r>
              <a:rPr lang="ko-KR" altLang="en-US" sz="3200" dirty="0"/>
              <a:t>설정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68618A-22A4-5B43-7E99-54EB5678E076}"/>
              </a:ext>
            </a:extLst>
          </p:cNvPr>
          <p:cNvSpPr txBox="1"/>
          <p:nvPr/>
        </p:nvSpPr>
        <p:spPr>
          <a:xfrm>
            <a:off x="698400" y="974534"/>
            <a:ext cx="11039100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가정</a:t>
            </a:r>
            <a:r>
              <a:rPr lang="en-US" altLang="ko-KR" b="1" dirty="0"/>
              <a:t>: </a:t>
            </a:r>
            <a:r>
              <a:rPr lang="ko-KR" altLang="en-US" b="1" dirty="0"/>
              <a:t>로컬에서 작업한 학습데이터를 업로드 완료함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4) </a:t>
            </a:r>
            <a:r>
              <a:rPr lang="ko-KR" altLang="en-US" dirty="0"/>
              <a:t>새로운 데이터셋 저장 경로 설정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5) </a:t>
            </a:r>
            <a:r>
              <a:rPr lang="ko-KR" altLang="en-US" dirty="0"/>
              <a:t>새로운 데이터셋 </a:t>
            </a:r>
            <a:r>
              <a:rPr lang="ko-KR" altLang="en-US" dirty="0" err="1"/>
              <a:t>폴더명</a:t>
            </a:r>
            <a:r>
              <a:rPr lang="ko-KR" altLang="en-US" dirty="0"/>
              <a:t> 지정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6) </a:t>
            </a:r>
            <a:r>
              <a:rPr lang="ko-KR" altLang="en-US" dirty="0"/>
              <a:t>신규 데이터셋 저장 폴더 생성</a:t>
            </a:r>
            <a:r>
              <a:rPr lang="en-US" altLang="ko-KR" dirty="0"/>
              <a:t>/</a:t>
            </a:r>
            <a:r>
              <a:rPr lang="ko-KR" altLang="en-US" dirty="0"/>
              <a:t>확인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660A2B-5BFA-146B-F234-78AA7D705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206" y="422678"/>
            <a:ext cx="4551022" cy="60856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D822B4C-4CD2-E40C-0EA2-43B58E6CAD4B}"/>
              </a:ext>
            </a:extLst>
          </p:cNvPr>
          <p:cNvSpPr/>
          <p:nvPr/>
        </p:nvSpPr>
        <p:spPr>
          <a:xfrm>
            <a:off x="6754241" y="1824928"/>
            <a:ext cx="4133318" cy="8503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913A71-9163-BA86-9899-82D4D480FDFE}"/>
              </a:ext>
            </a:extLst>
          </p:cNvPr>
          <p:cNvSpPr/>
          <p:nvPr/>
        </p:nvSpPr>
        <p:spPr>
          <a:xfrm>
            <a:off x="6754241" y="5126067"/>
            <a:ext cx="4265054" cy="8503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EB12C-1193-644C-F078-742B4CE5861E}"/>
              </a:ext>
            </a:extLst>
          </p:cNvPr>
          <p:cNvSpPr txBox="1"/>
          <p:nvPr/>
        </p:nvSpPr>
        <p:spPr>
          <a:xfrm>
            <a:off x="6754241" y="1491728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0C32C-DBC0-512D-D13A-4276958E8AD3}"/>
              </a:ext>
            </a:extLst>
          </p:cNvPr>
          <p:cNvSpPr txBox="1"/>
          <p:nvPr/>
        </p:nvSpPr>
        <p:spPr>
          <a:xfrm>
            <a:off x="6659316" y="4756734"/>
            <a:ext cx="4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7B5BD0-1969-1408-10D5-B661BD038BBA}"/>
              </a:ext>
            </a:extLst>
          </p:cNvPr>
          <p:cNvSpPr/>
          <p:nvPr/>
        </p:nvSpPr>
        <p:spPr>
          <a:xfrm>
            <a:off x="6761190" y="6083150"/>
            <a:ext cx="4265054" cy="3521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5CFCE1-A3E9-B157-A871-FC005B00AD7C}"/>
              </a:ext>
            </a:extLst>
          </p:cNvPr>
          <p:cNvSpPr txBox="1"/>
          <p:nvPr/>
        </p:nvSpPr>
        <p:spPr>
          <a:xfrm>
            <a:off x="6318708" y="6010125"/>
            <a:ext cx="4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⑥</a:t>
            </a:r>
          </a:p>
        </p:txBody>
      </p:sp>
    </p:spTree>
    <p:extLst>
      <p:ext uri="{BB962C8B-B14F-4D97-AF65-F5344CB8AC3E}">
        <p14:creationId xmlns:p14="http://schemas.microsoft.com/office/powerpoint/2010/main" val="2456432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C2945-54A5-DD09-C0BB-0A9179E4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E46326E-2FB2-8862-969D-5B96031B31E1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2. Dataset </a:t>
            </a:r>
            <a:r>
              <a:rPr lang="ko-KR" altLang="en-US" sz="3200" dirty="0"/>
              <a:t>설정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1CFB56-665F-5E84-401F-8C402E6F2CC6}"/>
              </a:ext>
            </a:extLst>
          </p:cNvPr>
          <p:cNvSpPr txBox="1"/>
          <p:nvPr/>
        </p:nvSpPr>
        <p:spPr>
          <a:xfrm>
            <a:off x="698400" y="974534"/>
            <a:ext cx="11039100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가정</a:t>
            </a:r>
            <a:r>
              <a:rPr lang="en-US" altLang="ko-KR" b="1" dirty="0"/>
              <a:t>: </a:t>
            </a:r>
            <a:r>
              <a:rPr lang="ko-KR" altLang="en-US" b="1" dirty="0"/>
              <a:t>로컬에서 작업한 학습데이터를 업로드 완료함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7) Train </a:t>
            </a:r>
            <a:r>
              <a:rPr lang="ko-KR" altLang="en-US" dirty="0"/>
              <a:t>데이터셋으로 포함 시킬 데이터 체크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체크</a:t>
            </a:r>
            <a:r>
              <a:rPr lang="en-US" altLang="ko-KR" dirty="0">
                <a:sym typeface="Wingdings" panose="05000000000000000000" pitchFamily="2" charset="2"/>
              </a:rPr>
              <a:t>: train / </a:t>
            </a:r>
            <a:r>
              <a:rPr lang="ko-KR" altLang="en-US" dirty="0" err="1">
                <a:sym typeface="Wingdings" panose="05000000000000000000" pitchFamily="2" charset="2"/>
              </a:rPr>
              <a:t>미체크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en-US" altLang="ko-KR" dirty="0" err="1">
                <a:sym typeface="Wingdings" panose="05000000000000000000" pitchFamily="2" charset="2"/>
              </a:rPr>
              <a:t>val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로 복사됨</a:t>
            </a:r>
            <a:r>
              <a:rPr lang="en-US" altLang="ko-KR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8) </a:t>
            </a:r>
            <a:r>
              <a:rPr lang="ko-KR" altLang="en-US" dirty="0"/>
              <a:t>체크 기준으로 </a:t>
            </a:r>
            <a:r>
              <a:rPr lang="en-US" altLang="ko-KR" dirty="0"/>
              <a:t>train/</a:t>
            </a:r>
            <a:r>
              <a:rPr lang="en-US" altLang="ko-KR" dirty="0" err="1"/>
              <a:t>val</a:t>
            </a:r>
            <a:r>
              <a:rPr lang="en-US" altLang="ko-KR" dirty="0"/>
              <a:t> </a:t>
            </a:r>
            <a:r>
              <a:rPr lang="ko-KR" altLang="en-US" dirty="0"/>
              <a:t>분할 복사 실행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2D6B0C-861F-90DD-9075-C5E430698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466" y="1407295"/>
            <a:ext cx="5965951" cy="52151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048A48-E41A-F511-2D3A-8D5B127B35C3}"/>
              </a:ext>
            </a:extLst>
          </p:cNvPr>
          <p:cNvSpPr/>
          <p:nvPr/>
        </p:nvSpPr>
        <p:spPr>
          <a:xfrm>
            <a:off x="6191574" y="1720313"/>
            <a:ext cx="5656880" cy="146664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0070C0"/>
                </a:solidFill>
              </a:rPr>
              <a:t>로그 확인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AAC29C-6B37-698D-2975-4C372DDF2692}"/>
              </a:ext>
            </a:extLst>
          </p:cNvPr>
          <p:cNvSpPr/>
          <p:nvPr/>
        </p:nvSpPr>
        <p:spPr>
          <a:xfrm>
            <a:off x="6096000" y="5780868"/>
            <a:ext cx="5752454" cy="35646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0070C0"/>
                </a:solidFill>
              </a:rPr>
              <a:t>최종 저장 경로 확인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F11A31-4070-2DF2-17DB-BE91210DB8E4}"/>
              </a:ext>
            </a:extLst>
          </p:cNvPr>
          <p:cNvSpPr/>
          <p:nvPr/>
        </p:nvSpPr>
        <p:spPr>
          <a:xfrm>
            <a:off x="6095999" y="4424765"/>
            <a:ext cx="5906417" cy="11236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84CF29-150B-6348-1E90-49CCFEB1C6A2}"/>
              </a:ext>
            </a:extLst>
          </p:cNvPr>
          <p:cNvSpPr txBox="1"/>
          <p:nvPr/>
        </p:nvSpPr>
        <p:spPr>
          <a:xfrm>
            <a:off x="6036466" y="4055433"/>
            <a:ext cx="4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⑦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AA8C02-6804-3EDA-B7E9-5FD848AF3CE9}"/>
              </a:ext>
            </a:extLst>
          </p:cNvPr>
          <p:cNvSpPr/>
          <p:nvPr/>
        </p:nvSpPr>
        <p:spPr>
          <a:xfrm>
            <a:off x="6096000" y="6281393"/>
            <a:ext cx="5906416" cy="2886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FF263-273A-646A-5BDB-53C65782A736}"/>
              </a:ext>
            </a:extLst>
          </p:cNvPr>
          <p:cNvSpPr txBox="1"/>
          <p:nvPr/>
        </p:nvSpPr>
        <p:spPr>
          <a:xfrm>
            <a:off x="6036466" y="6241075"/>
            <a:ext cx="4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⑧</a:t>
            </a:r>
          </a:p>
        </p:txBody>
      </p:sp>
    </p:spTree>
    <p:extLst>
      <p:ext uri="{BB962C8B-B14F-4D97-AF65-F5344CB8AC3E}">
        <p14:creationId xmlns:p14="http://schemas.microsoft.com/office/powerpoint/2010/main" val="1498243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1EDF-8762-F4BC-6F55-4E4E8D83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95EE5A-4A06-1DEB-113E-06DBAF3D835B}"/>
              </a:ext>
            </a:extLst>
          </p:cNvPr>
          <p:cNvSpPr/>
          <p:nvPr/>
        </p:nvSpPr>
        <p:spPr>
          <a:xfrm>
            <a:off x="1624739" y="2154265"/>
            <a:ext cx="8942522" cy="2549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/>
              <a:t>Train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Monitor</a:t>
            </a:r>
            <a:endParaRPr lang="ko-KR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025995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2CEEB-15F6-BA63-40ED-0B1FFA421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89C7DC2-E4B1-7559-30DF-55727869CF77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3. Train Monitor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D732C7-CE4F-259D-6733-31F25CB2D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444" y="1124159"/>
            <a:ext cx="9135111" cy="54983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1855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5E0BE-541D-9356-C012-B35B16FF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C09B7C1-BC1A-7FB0-0D1B-D42CA3E5B2D2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3. Train Monitor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A7D202-E6BB-4911-1521-FBA7E25D4DDD}"/>
              </a:ext>
            </a:extLst>
          </p:cNvPr>
          <p:cNvSpPr txBox="1"/>
          <p:nvPr/>
        </p:nvSpPr>
        <p:spPr>
          <a:xfrm>
            <a:off x="698400" y="974534"/>
            <a:ext cx="11039100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모델 </a:t>
            </a:r>
            <a:r>
              <a:rPr lang="en-US" altLang="ko-KR" dirty="0"/>
              <a:t>training &amp; </a:t>
            </a:r>
            <a:r>
              <a:rPr lang="ko-KR" altLang="en-US" dirty="0"/>
              <a:t>진행상황 확인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1) </a:t>
            </a:r>
            <a:r>
              <a:rPr lang="en-US" altLang="ko-KR" dirty="0" err="1"/>
              <a:t>data.yaml</a:t>
            </a:r>
            <a:r>
              <a:rPr lang="en-US" altLang="ko-KR" dirty="0"/>
              <a:t> </a:t>
            </a:r>
            <a:r>
              <a:rPr lang="ko-KR" altLang="en-US" dirty="0"/>
              <a:t>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서버내 지정된 경로에 저장됨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 2) </a:t>
            </a:r>
            <a:r>
              <a:rPr lang="ko-KR" altLang="en-US" dirty="0">
                <a:sym typeface="Wingdings" panose="05000000000000000000" pitchFamily="2" charset="2"/>
              </a:rPr>
              <a:t>모델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서버내 지정된 경로에 저장됨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 3) </a:t>
            </a:r>
            <a:r>
              <a:rPr lang="ko-KR" altLang="en-US" dirty="0"/>
              <a:t>학습 파라미터 설정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4) </a:t>
            </a:r>
            <a:r>
              <a:rPr lang="ko-KR" altLang="en-US" dirty="0"/>
              <a:t>학습 시작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37A0C2-7A65-1B73-9EF2-F64CDA4FE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466" y="2456647"/>
            <a:ext cx="7645934" cy="42358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52D41B-D184-8477-CECF-9614DE3115B3}"/>
              </a:ext>
            </a:extLst>
          </p:cNvPr>
          <p:cNvSpPr txBox="1"/>
          <p:nvPr/>
        </p:nvSpPr>
        <p:spPr>
          <a:xfrm>
            <a:off x="4380467" y="1898848"/>
            <a:ext cx="7645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data.yaml</a:t>
            </a:r>
            <a:r>
              <a:rPr lang="ko-KR" altLang="en-US" sz="1200" dirty="0"/>
              <a:t> 파일 저장 경로</a:t>
            </a:r>
            <a:r>
              <a:rPr lang="en-US" altLang="ko-KR" sz="1200" dirty="0"/>
              <a:t>: </a:t>
            </a:r>
            <a:r>
              <a:rPr lang="en-US" altLang="ko-KR" sz="1200" dirty="0">
                <a:sym typeface="Wingdings" panose="05000000000000000000" pitchFamily="2" charset="2"/>
              </a:rPr>
              <a:t>/home/</a:t>
            </a:r>
            <a:r>
              <a:rPr lang="en-US" altLang="ko-KR" sz="1200" dirty="0" err="1">
                <a:sym typeface="Wingdings" panose="05000000000000000000" pitchFamily="2" charset="2"/>
              </a:rPr>
              <a:t>gpuadmin</a:t>
            </a:r>
            <a:r>
              <a:rPr lang="en-US" altLang="ko-KR" sz="1200" dirty="0">
                <a:sym typeface="Wingdings" panose="05000000000000000000" pitchFamily="2" charset="2"/>
              </a:rPr>
              <a:t>/seongje_gradio2/</a:t>
            </a:r>
            <a:r>
              <a:rPr lang="en-US" altLang="ko-KR" sz="1200" dirty="0" err="1">
                <a:sym typeface="Wingdings" panose="05000000000000000000" pitchFamily="2" charset="2"/>
              </a:rPr>
              <a:t>test_yolo_project</a:t>
            </a:r>
            <a:r>
              <a:rPr lang="en-US" altLang="ko-KR" sz="1200" dirty="0">
                <a:sym typeface="Wingdings" panose="05000000000000000000" pitchFamily="2" charset="2"/>
              </a:rPr>
              <a:t>/configs</a:t>
            </a:r>
            <a:endParaRPr lang="ko-KR" altLang="en-US" sz="1200" dirty="0"/>
          </a:p>
          <a:p>
            <a:r>
              <a:rPr lang="ko-KR" altLang="en-US" sz="1200" dirty="0"/>
              <a:t>모델 저장 경로</a:t>
            </a:r>
            <a:r>
              <a:rPr lang="en-US" altLang="ko-KR" sz="1200" dirty="0"/>
              <a:t>: </a:t>
            </a:r>
            <a:r>
              <a:rPr lang="en-US" altLang="ko-KR" sz="1200" dirty="0">
                <a:sym typeface="Wingdings" panose="05000000000000000000" pitchFamily="2" charset="2"/>
              </a:rPr>
              <a:t>/home/</a:t>
            </a:r>
            <a:r>
              <a:rPr lang="en-US" altLang="ko-KR" sz="1200" dirty="0" err="1">
                <a:sym typeface="Wingdings" panose="05000000000000000000" pitchFamily="2" charset="2"/>
              </a:rPr>
              <a:t>gpuadmin</a:t>
            </a:r>
            <a:r>
              <a:rPr lang="en-US" altLang="ko-KR" sz="1200" dirty="0">
                <a:sym typeface="Wingdings" panose="05000000000000000000" pitchFamily="2" charset="2"/>
              </a:rPr>
              <a:t>/seongje_gradio2/</a:t>
            </a:r>
            <a:r>
              <a:rPr lang="en-US" altLang="ko-KR" sz="1200" dirty="0" err="1">
                <a:sym typeface="Wingdings" panose="05000000000000000000" pitchFamily="2" charset="2"/>
              </a:rPr>
              <a:t>test_yolo_project</a:t>
            </a:r>
            <a:r>
              <a:rPr lang="en-US" altLang="ko-KR" sz="1200" dirty="0">
                <a:sym typeface="Wingdings" panose="05000000000000000000" pitchFamily="2" charset="2"/>
              </a:rPr>
              <a:t>/</a:t>
            </a:r>
            <a:r>
              <a:rPr lang="en-US" altLang="ko-KR" sz="1200" dirty="0" err="1">
                <a:sym typeface="Wingdings" panose="05000000000000000000" pitchFamily="2" charset="2"/>
              </a:rPr>
              <a:t>base_model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3C2A72-924C-9FE2-F940-694B9F9B693D}"/>
              </a:ext>
            </a:extLst>
          </p:cNvPr>
          <p:cNvSpPr txBox="1"/>
          <p:nvPr/>
        </p:nvSpPr>
        <p:spPr>
          <a:xfrm>
            <a:off x="4315064" y="3095348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EB229C-5E32-AF7C-549B-09B868D71C5D}"/>
              </a:ext>
            </a:extLst>
          </p:cNvPr>
          <p:cNvSpPr/>
          <p:nvPr/>
        </p:nvSpPr>
        <p:spPr>
          <a:xfrm>
            <a:off x="4438384" y="3426465"/>
            <a:ext cx="3013615" cy="4161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41F0ED-CB98-D7DA-E3DA-FAA992B4F4E5}"/>
              </a:ext>
            </a:extLst>
          </p:cNvPr>
          <p:cNvSpPr txBox="1"/>
          <p:nvPr/>
        </p:nvSpPr>
        <p:spPr>
          <a:xfrm>
            <a:off x="4315064" y="4028720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E8B97F0-9438-C127-40D9-EFDE046F1751}"/>
              </a:ext>
            </a:extLst>
          </p:cNvPr>
          <p:cNvSpPr/>
          <p:nvPr/>
        </p:nvSpPr>
        <p:spPr>
          <a:xfrm>
            <a:off x="4438384" y="4370993"/>
            <a:ext cx="3013615" cy="4161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A68764-FD48-B4A2-559B-7C6F1BA73B04}"/>
              </a:ext>
            </a:extLst>
          </p:cNvPr>
          <p:cNvSpPr/>
          <p:nvPr/>
        </p:nvSpPr>
        <p:spPr>
          <a:xfrm>
            <a:off x="4438384" y="5287267"/>
            <a:ext cx="3013615" cy="98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281EC3-4087-2435-02F8-DFA509FB1879}"/>
              </a:ext>
            </a:extLst>
          </p:cNvPr>
          <p:cNvSpPr txBox="1"/>
          <p:nvPr/>
        </p:nvSpPr>
        <p:spPr>
          <a:xfrm>
            <a:off x="4315064" y="4926919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③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31C2F36-4660-2693-7BB0-D6337383CB74}"/>
              </a:ext>
            </a:extLst>
          </p:cNvPr>
          <p:cNvSpPr/>
          <p:nvPr/>
        </p:nvSpPr>
        <p:spPr>
          <a:xfrm>
            <a:off x="4439975" y="6323650"/>
            <a:ext cx="1505216" cy="2988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FE0324-5DCA-23D7-4A46-8DBC0B4B74B4}"/>
              </a:ext>
            </a:extLst>
          </p:cNvPr>
          <p:cNvSpPr txBox="1"/>
          <p:nvPr/>
        </p:nvSpPr>
        <p:spPr>
          <a:xfrm>
            <a:off x="3995902" y="6298740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3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F188-6947-CBDC-9AC0-4FBC365BE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52B4D82-E488-254E-13CE-1F008171045A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3. Train Monitor – Epoch </a:t>
            </a:r>
            <a:r>
              <a:rPr lang="ko-KR" altLang="en-US" sz="3200" dirty="0"/>
              <a:t>별 평가</a:t>
            </a:r>
            <a:endParaRPr lang="en-US" altLang="ko-KR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E36702-F195-109A-6BED-A0A80FCC056F}"/>
              </a:ext>
            </a:extLst>
          </p:cNvPr>
          <p:cNvSpPr txBox="1"/>
          <p:nvPr/>
        </p:nvSpPr>
        <p:spPr>
          <a:xfrm>
            <a:off x="698400" y="974534"/>
            <a:ext cx="11039100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Train </a:t>
            </a:r>
            <a:r>
              <a:rPr lang="ko-KR" altLang="en-US" dirty="0"/>
              <a:t>시 저장된 </a:t>
            </a:r>
            <a:r>
              <a:rPr lang="en-US" altLang="ko-KR" dirty="0"/>
              <a:t>Epoch </a:t>
            </a:r>
            <a:r>
              <a:rPr lang="ko-KR" altLang="en-US" dirty="0"/>
              <a:t>별 모델의 </a:t>
            </a:r>
            <a:r>
              <a:rPr lang="en-US" altLang="ko-KR" dirty="0"/>
              <a:t>conf </a:t>
            </a:r>
            <a:r>
              <a:rPr lang="ko-KR" altLang="en-US" dirty="0"/>
              <a:t>평가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현재 </a:t>
            </a:r>
            <a:r>
              <a:rPr lang="en-US" altLang="ko-KR" b="1" dirty="0"/>
              <a:t>save period</a:t>
            </a:r>
            <a:r>
              <a:rPr lang="ko-KR" altLang="en-US" b="1" dirty="0"/>
              <a:t>를 통해 </a:t>
            </a:r>
            <a:r>
              <a:rPr lang="en-US" altLang="ko-KR" b="1" dirty="0"/>
              <a:t>10 epoch </a:t>
            </a:r>
            <a:r>
              <a:rPr lang="ko-KR" altLang="en-US" b="1" dirty="0"/>
              <a:t>별로 모델이 저장됨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1) </a:t>
            </a:r>
            <a:r>
              <a:rPr lang="ko-KR" altLang="en-US" dirty="0"/>
              <a:t>이번 </a:t>
            </a:r>
            <a:r>
              <a:rPr lang="en-US" altLang="ko-KR" dirty="0"/>
              <a:t>train </a:t>
            </a:r>
            <a:r>
              <a:rPr lang="ko-KR" altLang="en-US" dirty="0"/>
              <a:t>시 생성된 모델이 있는 경로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2) conf</a:t>
            </a:r>
            <a:r>
              <a:rPr lang="ko-KR" altLang="en-US" dirty="0"/>
              <a:t> 평가에 사용할 이미지가 있는 경로 설정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3) </a:t>
            </a:r>
            <a:r>
              <a:rPr lang="ko-KR" altLang="en-US" dirty="0"/>
              <a:t>추론 파라미터 설정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- </a:t>
            </a:r>
            <a:r>
              <a:rPr lang="ko-KR" altLang="en-US" dirty="0"/>
              <a:t>가급적 수정하지 </a:t>
            </a:r>
            <a:r>
              <a:rPr lang="ko-KR" altLang="en-US" dirty="0" err="1"/>
              <a:t>말것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4) </a:t>
            </a:r>
            <a:r>
              <a:rPr lang="ko-KR" altLang="en-US" dirty="0"/>
              <a:t>선택 경로로 </a:t>
            </a:r>
            <a:r>
              <a:rPr lang="en-US" altLang="ko-KR" dirty="0"/>
              <a:t>Epoch </a:t>
            </a:r>
            <a:r>
              <a:rPr lang="ko-KR" altLang="en-US" dirty="0"/>
              <a:t>평가 실행 버튼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DAA06F-71AD-8467-63E4-4AFA5FA7B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000" y="337769"/>
            <a:ext cx="4618714" cy="62554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01D65E-30C5-3903-491F-B06AC5369F5C}"/>
              </a:ext>
            </a:extLst>
          </p:cNvPr>
          <p:cNvSpPr txBox="1"/>
          <p:nvPr/>
        </p:nvSpPr>
        <p:spPr>
          <a:xfrm>
            <a:off x="6769083" y="323551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F76DC7-3F4F-8002-9F8A-FFB32171F05E}"/>
              </a:ext>
            </a:extLst>
          </p:cNvPr>
          <p:cNvSpPr/>
          <p:nvPr/>
        </p:nvSpPr>
        <p:spPr>
          <a:xfrm>
            <a:off x="7023184" y="650544"/>
            <a:ext cx="4417616" cy="6094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26B7E-7AAC-38CB-3AAC-515F1753D89F}"/>
              </a:ext>
            </a:extLst>
          </p:cNvPr>
          <p:cNvSpPr txBox="1"/>
          <p:nvPr/>
        </p:nvSpPr>
        <p:spPr>
          <a:xfrm>
            <a:off x="6892664" y="2341383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A0A147-ECF6-3C01-6053-CA1E4E44F5C6}"/>
              </a:ext>
            </a:extLst>
          </p:cNvPr>
          <p:cNvSpPr txBox="1"/>
          <p:nvPr/>
        </p:nvSpPr>
        <p:spPr>
          <a:xfrm>
            <a:off x="6547842" y="4628363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③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9E7D4B-8ADE-9086-6654-C52A88598DEE}"/>
              </a:ext>
            </a:extLst>
          </p:cNvPr>
          <p:cNvSpPr/>
          <p:nvPr/>
        </p:nvSpPr>
        <p:spPr>
          <a:xfrm>
            <a:off x="7023184" y="6207456"/>
            <a:ext cx="4417616" cy="2988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504D67-5201-3F7E-C4EF-04782B1D4258}"/>
              </a:ext>
            </a:extLst>
          </p:cNvPr>
          <p:cNvSpPr txBox="1"/>
          <p:nvPr/>
        </p:nvSpPr>
        <p:spPr>
          <a:xfrm>
            <a:off x="6590166" y="6157242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E6A7C6D-68CA-B8E3-DC25-BA7A9D1A476D}"/>
              </a:ext>
            </a:extLst>
          </p:cNvPr>
          <p:cNvSpPr/>
          <p:nvPr/>
        </p:nvSpPr>
        <p:spPr>
          <a:xfrm>
            <a:off x="7023184" y="2701678"/>
            <a:ext cx="4417616" cy="6094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42603A-69AA-0431-D7B6-24CF7B216425}"/>
              </a:ext>
            </a:extLst>
          </p:cNvPr>
          <p:cNvSpPr/>
          <p:nvPr/>
        </p:nvSpPr>
        <p:spPr>
          <a:xfrm>
            <a:off x="7023184" y="4732482"/>
            <a:ext cx="4417616" cy="13659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456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D5B8-E7DE-B77E-3680-75C63665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BA8FCA2-BA22-4872-D5B4-8F1689A997FC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3. Train Monitor – Epoch </a:t>
            </a:r>
            <a:r>
              <a:rPr lang="ko-KR" altLang="en-US" sz="3200" dirty="0"/>
              <a:t>별 평가</a:t>
            </a:r>
            <a:endParaRPr lang="en-US" altLang="ko-KR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A96990-5DF8-6D07-A69A-FFFC237A1439}"/>
              </a:ext>
            </a:extLst>
          </p:cNvPr>
          <p:cNvSpPr txBox="1"/>
          <p:nvPr/>
        </p:nvSpPr>
        <p:spPr>
          <a:xfrm>
            <a:off x="698400" y="974534"/>
            <a:ext cx="11039100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왼쪽 그림과 같이 평가 로그가 출력됨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오른쪽 그림의 좌측 </a:t>
            </a:r>
            <a:r>
              <a:rPr lang="en-US" altLang="ko-KR" dirty="0"/>
              <a:t>weights </a:t>
            </a:r>
            <a:r>
              <a:rPr lang="ko-KR" altLang="en-US" dirty="0"/>
              <a:t>경로 복사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우측 붙여넣기 후 </a:t>
            </a:r>
            <a:r>
              <a:rPr lang="en-US" altLang="ko-KR" dirty="0">
                <a:sym typeface="Wingdings" panose="05000000000000000000" pitchFamily="2" charset="2"/>
              </a:rPr>
              <a:t>‘</a:t>
            </a:r>
            <a:r>
              <a:rPr lang="ko-KR" altLang="en-US" dirty="0">
                <a:sym typeface="Wingdings" panose="05000000000000000000" pitchFamily="2" charset="2"/>
              </a:rPr>
              <a:t>스캔 </a:t>
            </a:r>
            <a:r>
              <a:rPr lang="en-US" altLang="ko-KR" dirty="0">
                <a:sym typeface="Wingdings" panose="05000000000000000000" pitchFamily="2" charset="2"/>
              </a:rPr>
              <a:t>&amp; </a:t>
            </a:r>
            <a:r>
              <a:rPr lang="ko-KR" altLang="en-US" dirty="0">
                <a:sym typeface="Wingdings" panose="05000000000000000000" pitchFamily="2" charset="2"/>
              </a:rPr>
              <a:t>그래프 업데이트</a:t>
            </a:r>
            <a:r>
              <a:rPr lang="en-US" altLang="ko-KR" dirty="0">
                <a:sym typeface="Wingdings" panose="05000000000000000000" pitchFamily="2" charset="2"/>
              </a:rPr>
              <a:t>’ </a:t>
            </a:r>
            <a:r>
              <a:rPr lang="ko-KR" altLang="en-US" dirty="0">
                <a:sym typeface="Wingdings" panose="05000000000000000000" pitchFamily="2" charset="2"/>
              </a:rPr>
              <a:t>버튼 클릭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EE8447-1523-9FE3-488B-ED322B881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90" y="2409209"/>
            <a:ext cx="4782217" cy="4115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1ADF85-22C7-E2D7-784F-796F34385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457" y="2409209"/>
            <a:ext cx="6791893" cy="42726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FE2B22-2D3F-9E4A-52E7-404B1C764BA2}"/>
              </a:ext>
            </a:extLst>
          </p:cNvPr>
          <p:cNvSpPr/>
          <p:nvPr/>
        </p:nvSpPr>
        <p:spPr>
          <a:xfrm>
            <a:off x="439120" y="2909033"/>
            <a:ext cx="4325920" cy="361555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0070C0"/>
                </a:solidFill>
              </a:rPr>
              <a:t>로그 확인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7543EE-5317-ED10-5DCA-6C101B74F12F}"/>
              </a:ext>
            </a:extLst>
          </p:cNvPr>
          <p:cNvSpPr/>
          <p:nvPr/>
        </p:nvSpPr>
        <p:spPr>
          <a:xfrm>
            <a:off x="5306144" y="3271824"/>
            <a:ext cx="2588176" cy="3756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DBD8C7-423A-EC58-4271-EEB7A5CAE044}"/>
              </a:ext>
            </a:extLst>
          </p:cNvPr>
          <p:cNvSpPr txBox="1"/>
          <p:nvPr/>
        </p:nvSpPr>
        <p:spPr>
          <a:xfrm>
            <a:off x="4954542" y="2863281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2874D1D-56C8-DF35-105F-05445BEEC1DC}"/>
              </a:ext>
            </a:extLst>
          </p:cNvPr>
          <p:cNvSpPr/>
          <p:nvPr/>
        </p:nvSpPr>
        <p:spPr>
          <a:xfrm>
            <a:off x="8161104" y="2785764"/>
            <a:ext cx="1734736" cy="3756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347FEF-73B8-1623-9946-94C0E7CE2C6C}"/>
              </a:ext>
            </a:extLst>
          </p:cNvPr>
          <p:cNvSpPr txBox="1"/>
          <p:nvPr/>
        </p:nvSpPr>
        <p:spPr>
          <a:xfrm>
            <a:off x="7939863" y="2438427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2194571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F815-9DBC-7375-CA33-E9CF687E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45BF4A2-4F3B-828C-6045-4E63E4D454AA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3. Train Monitor – Metric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FFBAFD1A-78EE-F587-42F2-F5E4DFBB3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385" y="992414"/>
            <a:ext cx="7020905" cy="56300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945E08-96C2-4E93-EFAA-8D85D71C8651}"/>
              </a:ext>
            </a:extLst>
          </p:cNvPr>
          <p:cNvSpPr txBox="1"/>
          <p:nvPr/>
        </p:nvSpPr>
        <p:spPr>
          <a:xfrm>
            <a:off x="698400" y="974534"/>
            <a:ext cx="1103910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모델 </a:t>
            </a:r>
            <a:r>
              <a:rPr lang="en-US" altLang="ko-KR" dirty="0"/>
              <a:t>train </a:t>
            </a:r>
            <a:r>
              <a:rPr lang="ko-KR" altLang="en-US" dirty="0"/>
              <a:t>평가지표 확인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가장 최근 </a:t>
            </a:r>
            <a:r>
              <a:rPr lang="en-US" altLang="ko-KR" dirty="0"/>
              <a:t>train</a:t>
            </a:r>
            <a:r>
              <a:rPr lang="ko-KR" altLang="en-US" dirty="0"/>
              <a:t>한 결과를 자동으로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표출함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metric / loss</a:t>
            </a:r>
            <a:r>
              <a:rPr lang="ko-KR" altLang="en-US" dirty="0"/>
              <a:t>로 구성되어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15595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F781-CAC1-5F3F-7AEB-EE2281D0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D155251-7A3A-6D3E-10B0-2E15D431C19C}"/>
              </a:ext>
            </a:extLst>
          </p:cNvPr>
          <p:cNvSpPr/>
          <p:nvPr/>
        </p:nvSpPr>
        <p:spPr>
          <a:xfrm>
            <a:off x="1624739" y="2154265"/>
            <a:ext cx="8942522" cy="2549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b="1" dirty="0"/>
              <a:t>모델 성능 모니터링</a:t>
            </a:r>
          </a:p>
        </p:txBody>
      </p:sp>
    </p:spTree>
    <p:extLst>
      <p:ext uri="{BB962C8B-B14F-4D97-AF65-F5344CB8AC3E}">
        <p14:creationId xmlns:p14="http://schemas.microsoft.com/office/powerpoint/2010/main" val="3153239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EC38D-70C9-CC16-A228-2C259732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A231D34-712F-2867-2519-26790BC5F804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4. </a:t>
            </a:r>
            <a:r>
              <a:rPr lang="ko-KR" altLang="en-US" sz="3200" dirty="0"/>
              <a:t>모델 성능 모니터링</a:t>
            </a:r>
            <a:endParaRPr lang="en-US" altLang="ko-KR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411F68-A1ED-6903-D39E-0A49270ED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256" y="1038072"/>
            <a:ext cx="8537487" cy="55844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8543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7C146-FBD5-7AAA-BFEB-1EE3D97E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C1E7EA2D-3880-F3E0-6405-BD6DD226D4B0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4. </a:t>
            </a:r>
            <a:r>
              <a:rPr lang="ko-KR" altLang="en-US" sz="3200" dirty="0"/>
              <a:t>모델 성능 모니터링</a:t>
            </a:r>
            <a:endParaRPr lang="en-US" altLang="ko-KR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3ADDC0-BEB4-EEBA-939B-8D6DB4B10EBF}"/>
              </a:ext>
            </a:extLst>
          </p:cNvPr>
          <p:cNvSpPr txBox="1"/>
          <p:nvPr/>
        </p:nvSpPr>
        <p:spPr>
          <a:xfrm>
            <a:off x="698400" y="974534"/>
            <a:ext cx="11039100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현재 배포되어 사용중인 모델의 추론 성능을 </a:t>
            </a:r>
            <a:r>
              <a:rPr lang="en-US" altLang="ko-KR" dirty="0"/>
              <a:t>confidence </a:t>
            </a:r>
            <a:r>
              <a:rPr lang="ko-KR" altLang="en-US" dirty="0"/>
              <a:t>기반으로 모니터링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가정</a:t>
            </a:r>
            <a:r>
              <a:rPr lang="en-US" altLang="ko-KR" b="1" dirty="0"/>
              <a:t>: </a:t>
            </a:r>
            <a:r>
              <a:rPr lang="ko-KR" altLang="en-US" b="1" dirty="0"/>
              <a:t>모델 추론 시</a:t>
            </a:r>
            <a:r>
              <a:rPr lang="en-US" altLang="ko-KR" b="1" dirty="0"/>
              <a:t>, txt </a:t>
            </a:r>
            <a:r>
              <a:rPr lang="ko-KR" altLang="en-US" b="1" dirty="0"/>
              <a:t>파일에 </a:t>
            </a:r>
            <a:r>
              <a:rPr lang="en-US" altLang="ko-KR" b="1" dirty="0"/>
              <a:t>conf</a:t>
            </a:r>
            <a:r>
              <a:rPr lang="ko-KR" altLang="en-US" b="1" dirty="0"/>
              <a:t>를 기록함 </a:t>
            </a:r>
            <a:r>
              <a:rPr lang="en-US" altLang="ko-KR" b="1" dirty="0"/>
              <a:t>(</a:t>
            </a:r>
            <a:r>
              <a:rPr lang="ko-KR" altLang="en-US" b="1" dirty="0"/>
              <a:t>구조</a:t>
            </a:r>
            <a:r>
              <a:rPr lang="en-US" altLang="ko-KR" b="1" dirty="0"/>
              <a:t>: class, conf, x1, y1, x2, y2, x3, y3, ...)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1) </a:t>
            </a:r>
            <a:r>
              <a:rPr lang="ko-KR" altLang="en-US" dirty="0"/>
              <a:t>집계</a:t>
            </a:r>
            <a:r>
              <a:rPr lang="en-US" altLang="ko-KR" dirty="0"/>
              <a:t>/</a:t>
            </a:r>
            <a:r>
              <a:rPr lang="ko-KR" altLang="en-US" dirty="0"/>
              <a:t>갱신 버튼 클릭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2) </a:t>
            </a:r>
            <a:r>
              <a:rPr lang="ko-KR" altLang="en-US" dirty="0"/>
              <a:t>우측 결과 확인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AAE226C-7B5B-D467-0B75-5762CE91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233" y="2263180"/>
            <a:ext cx="6763537" cy="44240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0BA39BF-B5BC-59D9-1CC3-C34D09B288A8}"/>
              </a:ext>
            </a:extLst>
          </p:cNvPr>
          <p:cNvSpPr/>
          <p:nvPr/>
        </p:nvSpPr>
        <p:spPr>
          <a:xfrm>
            <a:off x="5229859" y="4028440"/>
            <a:ext cx="2661921" cy="173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2B024-17F9-1DA5-741E-951040082C63}"/>
              </a:ext>
            </a:extLst>
          </p:cNvPr>
          <p:cNvSpPr txBox="1"/>
          <p:nvPr/>
        </p:nvSpPr>
        <p:spPr>
          <a:xfrm>
            <a:off x="5076231" y="3681577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ADA0ED-D4EF-CCE6-4542-5876E0AFCB99}"/>
              </a:ext>
            </a:extLst>
          </p:cNvPr>
          <p:cNvSpPr txBox="1"/>
          <p:nvPr/>
        </p:nvSpPr>
        <p:spPr>
          <a:xfrm>
            <a:off x="5199233" y="1923041"/>
            <a:ext cx="764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추론결과 저장 경로</a:t>
            </a:r>
            <a:r>
              <a:rPr lang="en-US" altLang="ko-KR" sz="1200" dirty="0"/>
              <a:t>: </a:t>
            </a:r>
            <a:r>
              <a:rPr lang="en-US" altLang="ko-KR" sz="1200" dirty="0">
                <a:sym typeface="Wingdings" panose="05000000000000000000" pitchFamily="2" charset="2"/>
              </a:rPr>
              <a:t>/home/</a:t>
            </a:r>
            <a:r>
              <a:rPr lang="en-US" altLang="ko-KR" sz="1200" dirty="0" err="1">
                <a:sym typeface="Wingdings" panose="05000000000000000000" pitchFamily="2" charset="2"/>
              </a:rPr>
              <a:t>gpuadmin</a:t>
            </a:r>
            <a:r>
              <a:rPr lang="en-US" altLang="ko-KR" sz="1200" dirty="0">
                <a:sym typeface="Wingdings" panose="05000000000000000000" pitchFamily="2" charset="2"/>
              </a:rPr>
              <a:t>/seongje_gradio2/</a:t>
            </a:r>
            <a:r>
              <a:rPr lang="en-US" altLang="ko-KR" sz="1200" dirty="0" err="1">
                <a:sym typeface="Wingdings" panose="05000000000000000000" pitchFamily="2" charset="2"/>
              </a:rPr>
              <a:t>inf_results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7FA793-60F7-101F-9C61-548A35278F0A}"/>
              </a:ext>
            </a:extLst>
          </p:cNvPr>
          <p:cNvSpPr/>
          <p:nvPr/>
        </p:nvSpPr>
        <p:spPr>
          <a:xfrm>
            <a:off x="7965414" y="2667431"/>
            <a:ext cx="3997356" cy="401980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일자별 </a:t>
            </a:r>
            <a:r>
              <a:rPr lang="en-US" altLang="ko-KR" dirty="0">
                <a:solidFill>
                  <a:srgbClr val="0070C0"/>
                </a:solidFill>
              </a:rPr>
              <a:t>conf</a:t>
            </a:r>
            <a:r>
              <a:rPr lang="ko-KR" altLang="en-US" dirty="0">
                <a:solidFill>
                  <a:srgbClr val="0070C0"/>
                </a:solidFill>
              </a:rPr>
              <a:t> 확인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03D6EB-371B-2551-A1E7-CD0FB17667BC}"/>
              </a:ext>
            </a:extLst>
          </p:cNvPr>
          <p:cNvSpPr txBox="1"/>
          <p:nvPr/>
        </p:nvSpPr>
        <p:spPr>
          <a:xfrm>
            <a:off x="454500" y="3763660"/>
            <a:ext cx="4744733" cy="1995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통계의 </a:t>
            </a:r>
            <a:r>
              <a:rPr lang="en-US" altLang="ko-KR" sz="1200" dirty="0"/>
              <a:t>Conf </a:t>
            </a:r>
            <a:r>
              <a:rPr lang="ko-KR" altLang="en-US" sz="1200" dirty="0"/>
              <a:t>산출 방식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</a:t>
            </a:r>
            <a:r>
              <a:rPr lang="ko-KR" altLang="en-US" sz="1200" dirty="0"/>
              <a:t>가정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∙ </a:t>
            </a:r>
            <a:r>
              <a:rPr lang="ko-KR" altLang="en-US" sz="1200" dirty="0"/>
              <a:t>일자별로 복수개의 이미지를 추론한다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 </a:t>
            </a:r>
            <a:r>
              <a:rPr lang="ko-KR" altLang="en-US" sz="1200" dirty="0"/>
              <a:t>방식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 </a:t>
            </a:r>
            <a:r>
              <a:rPr lang="en-US" altLang="ko-KR" sz="1200" dirty="0">
                <a:latin typeface="맑은 고딕" panose="020B0503020000020004" pitchFamily="50" charset="-127"/>
              </a:rPr>
              <a:t>∙ </a:t>
            </a:r>
            <a:r>
              <a:rPr lang="ko-KR" altLang="en-US" sz="1200" dirty="0"/>
              <a:t>각 이미지에 대해 클래스별 추론 </a:t>
            </a:r>
            <a:r>
              <a:rPr lang="en-US" altLang="ko-KR" sz="1200" dirty="0"/>
              <a:t>Confidence</a:t>
            </a:r>
            <a:r>
              <a:rPr lang="ko-KR" altLang="en-US" sz="1200" dirty="0"/>
              <a:t>의 평균값을 산출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</a:rPr>
              <a:t> </a:t>
            </a:r>
            <a:r>
              <a:rPr lang="en-US" altLang="ko-KR" sz="1200" dirty="0"/>
              <a:t>  </a:t>
            </a:r>
            <a:r>
              <a:rPr lang="en-US" altLang="ko-KR" sz="1200" dirty="0">
                <a:latin typeface="맑은 고딕" panose="020B0503020000020004" pitchFamily="50" charset="-127"/>
              </a:rPr>
              <a:t>∙ </a:t>
            </a:r>
            <a:r>
              <a:rPr lang="ko-KR" altLang="en-US" sz="1200" dirty="0"/>
              <a:t>동일 일자에 대해 이미지별 평균 </a:t>
            </a:r>
            <a:r>
              <a:rPr lang="en-US" altLang="ko-KR" sz="1200" dirty="0"/>
              <a:t>Confidence</a:t>
            </a:r>
            <a:r>
              <a:rPr lang="ko-KR" altLang="en-US" sz="1200" dirty="0"/>
              <a:t>를 다시 평균하여 일자 단위 </a:t>
            </a:r>
            <a:r>
              <a:rPr lang="en-US" altLang="ko-KR" sz="1200" dirty="0"/>
              <a:t>Confidence </a:t>
            </a:r>
            <a:r>
              <a:rPr lang="ko-KR" altLang="en-US" sz="1200" dirty="0"/>
              <a:t>지표로 계산</a:t>
            </a:r>
          </a:p>
        </p:txBody>
      </p:sp>
    </p:spTree>
    <p:extLst>
      <p:ext uri="{BB962C8B-B14F-4D97-AF65-F5344CB8AC3E}">
        <p14:creationId xmlns:p14="http://schemas.microsoft.com/office/powerpoint/2010/main" val="1390157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F5DEE-CC41-6949-B66E-2E3D1466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2C760EEA-8EEB-5E15-8E3B-394781EE7202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4. </a:t>
            </a:r>
            <a:r>
              <a:rPr lang="ko-KR" altLang="en-US" sz="3200" dirty="0"/>
              <a:t>모델 성능 모니터링 </a:t>
            </a:r>
            <a:r>
              <a:rPr lang="en-US" altLang="ko-KR" sz="3200" dirty="0"/>
              <a:t>– </a:t>
            </a:r>
            <a:r>
              <a:rPr lang="ko-KR" altLang="en-US" sz="3200" dirty="0" err="1"/>
              <a:t>저성능</a:t>
            </a:r>
            <a:r>
              <a:rPr lang="ko-KR" altLang="en-US" sz="3200" dirty="0"/>
              <a:t> 날짜 선별 및 데이터셋 복사</a:t>
            </a:r>
            <a:endParaRPr lang="en-US" altLang="ko-KR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4FDE71-2634-D1EF-7BB5-08ED35AE901B}"/>
              </a:ext>
            </a:extLst>
          </p:cNvPr>
          <p:cNvSpPr txBox="1"/>
          <p:nvPr/>
        </p:nvSpPr>
        <p:spPr>
          <a:xfrm>
            <a:off x="698400" y="974534"/>
            <a:ext cx="11039100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Conf </a:t>
            </a:r>
            <a:r>
              <a:rPr lang="ko-KR" altLang="en-US" dirty="0"/>
              <a:t>기준으로 현재 배포된 모델의 성능이 저하된 일자의 추론 결과를 다시 학습데이터로 활용하기 위해 사용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1) Conf </a:t>
            </a:r>
            <a:r>
              <a:rPr lang="ko-KR" altLang="en-US" dirty="0" err="1"/>
              <a:t>기준값</a:t>
            </a:r>
            <a:r>
              <a:rPr lang="ko-KR" altLang="en-US" dirty="0"/>
              <a:t> 설정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2) mean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≤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 날짜 불러오기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3)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날짜 선택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4)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 날짜 복사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603E602-9C9E-65F1-B2E5-0987DA009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218" y="1950720"/>
            <a:ext cx="7463282" cy="45448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FE02911-AA8D-735C-EB3A-BD4150FF12F8}"/>
              </a:ext>
            </a:extLst>
          </p:cNvPr>
          <p:cNvSpPr/>
          <p:nvPr/>
        </p:nvSpPr>
        <p:spPr>
          <a:xfrm>
            <a:off x="4408472" y="4283096"/>
            <a:ext cx="2789888" cy="182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037263-654A-BF7F-517A-2CD8C245F5E0}"/>
              </a:ext>
            </a:extLst>
          </p:cNvPr>
          <p:cNvSpPr txBox="1"/>
          <p:nvPr/>
        </p:nvSpPr>
        <p:spPr>
          <a:xfrm>
            <a:off x="4238031" y="3921816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BAD337-00FB-31A6-909A-8B5120CAEC3E}"/>
              </a:ext>
            </a:extLst>
          </p:cNvPr>
          <p:cNvSpPr/>
          <p:nvPr/>
        </p:nvSpPr>
        <p:spPr>
          <a:xfrm>
            <a:off x="4408472" y="4715778"/>
            <a:ext cx="2789888" cy="440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80F2CF-86AD-10E8-1CDC-8D99595C10BD}"/>
              </a:ext>
            </a:extLst>
          </p:cNvPr>
          <p:cNvSpPr/>
          <p:nvPr/>
        </p:nvSpPr>
        <p:spPr>
          <a:xfrm>
            <a:off x="4347512" y="5680848"/>
            <a:ext cx="930608" cy="338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E6C6D6-8B4D-C0EF-32DF-DB2734D1450D}"/>
              </a:ext>
            </a:extLst>
          </p:cNvPr>
          <p:cNvSpPr/>
          <p:nvPr/>
        </p:nvSpPr>
        <p:spPr>
          <a:xfrm>
            <a:off x="5351414" y="5680847"/>
            <a:ext cx="930608" cy="2026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0FBE4-1FCF-5F78-493E-7E4A8C8A09C2}"/>
              </a:ext>
            </a:extLst>
          </p:cNvPr>
          <p:cNvSpPr txBox="1"/>
          <p:nvPr/>
        </p:nvSpPr>
        <p:spPr>
          <a:xfrm>
            <a:off x="3965990" y="5629740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75663-3F04-094A-FE51-5B1CCC08A112}"/>
              </a:ext>
            </a:extLst>
          </p:cNvPr>
          <p:cNvSpPr txBox="1"/>
          <p:nvPr/>
        </p:nvSpPr>
        <p:spPr>
          <a:xfrm>
            <a:off x="4052977" y="4635817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6BFAA5-B1AC-73AF-CFAA-42599DCD8643}"/>
              </a:ext>
            </a:extLst>
          </p:cNvPr>
          <p:cNvSpPr txBox="1"/>
          <p:nvPr/>
        </p:nvSpPr>
        <p:spPr>
          <a:xfrm>
            <a:off x="5499361" y="5810806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DDC580-1714-5736-72AD-961E7005F322}"/>
              </a:ext>
            </a:extLst>
          </p:cNvPr>
          <p:cNvSpPr/>
          <p:nvPr/>
        </p:nvSpPr>
        <p:spPr>
          <a:xfrm>
            <a:off x="4408472" y="5195962"/>
            <a:ext cx="2789888" cy="39747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0070C0"/>
                </a:solidFill>
              </a:rPr>
              <a:t>경로 확인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A2201C-BA21-EA82-70B0-34B6BE72389F}"/>
              </a:ext>
            </a:extLst>
          </p:cNvPr>
          <p:cNvSpPr txBox="1"/>
          <p:nvPr/>
        </p:nvSpPr>
        <p:spPr>
          <a:xfrm>
            <a:off x="4238031" y="1611158"/>
            <a:ext cx="764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복사할 경로</a:t>
            </a:r>
            <a:r>
              <a:rPr lang="en-US" altLang="ko-KR" sz="1200" dirty="0"/>
              <a:t>: </a:t>
            </a:r>
            <a:r>
              <a:rPr lang="en-US" altLang="ko-KR" sz="1200" dirty="0">
                <a:sym typeface="Wingdings" panose="05000000000000000000" pitchFamily="2" charset="2"/>
              </a:rPr>
              <a:t>/home/</a:t>
            </a:r>
            <a:r>
              <a:rPr lang="en-US" altLang="ko-KR" sz="1200" dirty="0" err="1">
                <a:sym typeface="Wingdings" panose="05000000000000000000" pitchFamily="2" charset="2"/>
              </a:rPr>
              <a:t>gpuadmin</a:t>
            </a:r>
            <a:r>
              <a:rPr lang="en-US" altLang="ko-KR" sz="1200" dirty="0">
                <a:sym typeface="Wingdings" panose="05000000000000000000" pitchFamily="2" charset="2"/>
              </a:rPr>
              <a:t>/seongje_gradio2/</a:t>
            </a:r>
            <a:r>
              <a:rPr lang="en-US" altLang="ko-KR" sz="1200" dirty="0" err="1">
                <a:sym typeface="Wingdings" panose="05000000000000000000" pitchFamily="2" charset="2"/>
              </a:rPr>
              <a:t>test_yolo_project</a:t>
            </a:r>
            <a:r>
              <a:rPr lang="en-US" altLang="ko-KR" sz="1200" dirty="0">
                <a:sym typeface="Wingdings" panose="05000000000000000000" pitchFamily="2" charset="2"/>
              </a:rPr>
              <a:t>/</a:t>
            </a:r>
            <a:r>
              <a:rPr lang="en-US" altLang="ko-KR" sz="1200" dirty="0" err="1">
                <a:sym typeface="Wingdings" panose="05000000000000000000" pitchFamily="2" charset="2"/>
              </a:rPr>
              <a:t>datasets_for_labeling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98211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3DAD7-359F-629F-7D54-1F2C3780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656FEF3-EA12-5E15-90FF-A8A4D3A21E9E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4. </a:t>
            </a:r>
            <a:r>
              <a:rPr lang="ko-KR" altLang="en-US" sz="3200" dirty="0"/>
              <a:t>모델 성능 모니터링 </a:t>
            </a:r>
            <a:r>
              <a:rPr lang="en-US" altLang="ko-KR" sz="3200" dirty="0"/>
              <a:t>– </a:t>
            </a:r>
            <a:r>
              <a:rPr lang="ko-KR" altLang="en-US" sz="3200" dirty="0" err="1"/>
              <a:t>저성능</a:t>
            </a:r>
            <a:r>
              <a:rPr lang="ko-KR" altLang="en-US" sz="3200" dirty="0"/>
              <a:t> 날짜 선별 및 데이터셋 복사</a:t>
            </a:r>
            <a:endParaRPr lang="en-US" altLang="ko-KR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6C79C0-2FB8-147C-58F6-C36398FA1C89}"/>
              </a:ext>
            </a:extLst>
          </p:cNvPr>
          <p:cNvSpPr txBox="1"/>
          <p:nvPr/>
        </p:nvSpPr>
        <p:spPr>
          <a:xfrm>
            <a:off x="698400" y="974534"/>
            <a:ext cx="11039100" cy="336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 err="1"/>
              <a:t>재학습</a:t>
            </a:r>
            <a:r>
              <a:rPr lang="ko-KR" altLang="en-US" dirty="0"/>
              <a:t> 데이터로 사용할 데이터를 </a:t>
            </a:r>
            <a:r>
              <a:rPr lang="ko-KR" altLang="en-US" b="1" dirty="0"/>
              <a:t>로컬</a:t>
            </a:r>
            <a:r>
              <a:rPr lang="ko-KR" altLang="en-US" dirty="0"/>
              <a:t>로 다운로드 하기 위함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5) ZIP </a:t>
            </a:r>
            <a:r>
              <a:rPr lang="ko-KR" altLang="en-US" dirty="0"/>
              <a:t>다운로드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.zip </a:t>
            </a:r>
            <a:r>
              <a:rPr lang="ko-KR" altLang="en-US" dirty="0">
                <a:sym typeface="Wingdings" panose="05000000000000000000" pitchFamily="2" charset="2"/>
              </a:rPr>
              <a:t>파일 생성됨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6) </a:t>
            </a:r>
            <a:r>
              <a:rPr lang="ko-KR" altLang="en-US" dirty="0"/>
              <a:t>파일 클릭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다운로드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463A27-55D5-B988-E0A5-28C59826C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218" y="1950720"/>
            <a:ext cx="7463282" cy="45448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7D839A5-96A0-326C-D958-E3A680A13378}"/>
              </a:ext>
            </a:extLst>
          </p:cNvPr>
          <p:cNvSpPr/>
          <p:nvPr/>
        </p:nvSpPr>
        <p:spPr>
          <a:xfrm>
            <a:off x="6355316" y="5680847"/>
            <a:ext cx="930608" cy="2026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06484A7-4E88-8FE0-60ED-6E458ACCD246}"/>
              </a:ext>
            </a:extLst>
          </p:cNvPr>
          <p:cNvSpPr/>
          <p:nvPr/>
        </p:nvSpPr>
        <p:spPr>
          <a:xfrm>
            <a:off x="4347512" y="6243100"/>
            <a:ext cx="2938412" cy="165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30C364-338F-6E2E-841B-379FBB83E3AB}"/>
              </a:ext>
            </a:extLst>
          </p:cNvPr>
          <p:cNvSpPr txBox="1"/>
          <p:nvPr/>
        </p:nvSpPr>
        <p:spPr>
          <a:xfrm>
            <a:off x="6217950" y="5337366"/>
            <a:ext cx="4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31389A-F28E-06D8-FC84-8F73BE2DF1C3}"/>
              </a:ext>
            </a:extLst>
          </p:cNvPr>
          <p:cNvSpPr txBox="1"/>
          <p:nvPr/>
        </p:nvSpPr>
        <p:spPr>
          <a:xfrm>
            <a:off x="4126271" y="5897821"/>
            <a:ext cx="4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⑥</a:t>
            </a:r>
          </a:p>
        </p:txBody>
      </p:sp>
    </p:spTree>
    <p:extLst>
      <p:ext uri="{BB962C8B-B14F-4D97-AF65-F5344CB8AC3E}">
        <p14:creationId xmlns:p14="http://schemas.microsoft.com/office/powerpoint/2010/main" val="2764531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1821C-D579-702C-7D2E-C3E70D57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6FB446D-3415-D6AB-06B9-DDE0BCEB6273}"/>
              </a:ext>
            </a:extLst>
          </p:cNvPr>
          <p:cNvSpPr/>
          <p:nvPr/>
        </p:nvSpPr>
        <p:spPr>
          <a:xfrm>
            <a:off x="1624739" y="2154265"/>
            <a:ext cx="8942522" cy="2549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/>
              <a:t>Labeling</a:t>
            </a:r>
            <a:endParaRPr lang="ko-KR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899716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A7966-9644-E7E0-20A5-9D72EF07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58935913-EFEE-5BC9-874A-BD78248FE5A0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5. Labeling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11C5665-8D23-6CC0-99CE-57BA4924A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58" y="1170153"/>
            <a:ext cx="8743883" cy="54523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3049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9A04-7476-0779-4D91-D756BE461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8876EE1-122F-DFAE-887A-B976A612BB4B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5. Labeling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47D92-7FFC-9BDD-50F2-702674A43228}"/>
              </a:ext>
            </a:extLst>
          </p:cNvPr>
          <p:cNvSpPr txBox="1"/>
          <p:nvPr/>
        </p:nvSpPr>
        <p:spPr>
          <a:xfrm>
            <a:off x="698400" y="974534"/>
            <a:ext cx="1103910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학습데이터셋 생성</a:t>
            </a:r>
            <a:r>
              <a:rPr lang="en-US" altLang="ko-KR" dirty="0"/>
              <a:t>, </a:t>
            </a:r>
            <a:r>
              <a:rPr lang="ko-KR" altLang="en-US" dirty="0"/>
              <a:t>수정을 비롯한 레이블 편집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현재는 별도의 레이블링 </a:t>
            </a:r>
            <a:r>
              <a:rPr lang="en-US" altLang="ko-KR" b="1" dirty="0"/>
              <a:t>Tool</a:t>
            </a:r>
            <a:r>
              <a:rPr lang="ko-KR" altLang="en-US" b="1" dirty="0"/>
              <a:t>을 사용하는 것을 권장함</a:t>
            </a:r>
            <a:endParaRPr lang="en-US" altLang="ko-K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6C6FBF-F608-03A6-2353-FFDA42BF47DC}"/>
              </a:ext>
            </a:extLst>
          </p:cNvPr>
          <p:cNvSpPr txBox="1"/>
          <p:nvPr/>
        </p:nvSpPr>
        <p:spPr>
          <a:xfrm>
            <a:off x="698400" y="1774311"/>
            <a:ext cx="5061600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다음과 같은 경우에 사용할 수 있음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이미지 </a:t>
            </a:r>
            <a:r>
              <a:rPr lang="en-US" altLang="ko-KR" dirty="0"/>
              <a:t>&amp; </a:t>
            </a:r>
            <a:r>
              <a:rPr lang="en-US" altLang="ko-KR" dirty="0" err="1"/>
              <a:t>json</a:t>
            </a:r>
            <a:r>
              <a:rPr lang="en-US" altLang="ko-KR" dirty="0"/>
              <a:t>(</a:t>
            </a:r>
            <a:r>
              <a:rPr lang="ko-KR" altLang="en-US" dirty="0"/>
              <a:t>레이블 파일</a:t>
            </a:r>
            <a:r>
              <a:rPr lang="en-US" altLang="ko-KR" dirty="0"/>
              <a:t>)</a:t>
            </a:r>
            <a:r>
              <a:rPr lang="ko-KR" altLang="en-US" dirty="0"/>
              <a:t>이 있는 경우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이미지 </a:t>
            </a:r>
            <a:r>
              <a:rPr lang="en-US" altLang="ko-KR" dirty="0"/>
              <a:t>&amp; txt(</a:t>
            </a:r>
            <a:r>
              <a:rPr lang="ko-KR" altLang="en-US" dirty="0"/>
              <a:t>추론결과</a:t>
            </a:r>
            <a:r>
              <a:rPr lang="en-US" altLang="ko-KR" dirty="0"/>
              <a:t>)</a:t>
            </a:r>
            <a:r>
              <a:rPr lang="ko-KR" altLang="en-US" dirty="0"/>
              <a:t>가 있는 경우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사용불가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이미지만 있는 경우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28D06-18FE-9F3D-FC59-4CBA85AEB69C}"/>
              </a:ext>
            </a:extLst>
          </p:cNvPr>
          <p:cNvSpPr txBox="1"/>
          <p:nvPr/>
        </p:nvSpPr>
        <p:spPr>
          <a:xfrm>
            <a:off x="6432002" y="1774311"/>
            <a:ext cx="5591998" cy="5024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구현된 기능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추론결과 </a:t>
            </a:r>
            <a:r>
              <a:rPr lang="en-US" altLang="ko-KR" dirty="0"/>
              <a:t>txt </a:t>
            </a:r>
            <a:r>
              <a:rPr lang="ko-KR" altLang="en-US" dirty="0"/>
              <a:t>파일로 부터 </a:t>
            </a:r>
            <a:r>
              <a:rPr lang="en-US" altLang="ko-KR" dirty="0" err="1"/>
              <a:t>json</a:t>
            </a:r>
            <a:r>
              <a:rPr lang="en-US" altLang="ko-KR" dirty="0"/>
              <a:t>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(</a:t>
            </a:r>
            <a:r>
              <a:rPr lang="ko-KR" altLang="en-US" dirty="0"/>
              <a:t>생성된 </a:t>
            </a:r>
            <a:r>
              <a:rPr lang="en-US" altLang="ko-KR" dirty="0" err="1"/>
              <a:t>json</a:t>
            </a:r>
            <a:r>
              <a:rPr lang="en-US" altLang="ko-KR" dirty="0"/>
              <a:t> </a:t>
            </a:r>
            <a:r>
              <a:rPr lang="ko-KR" altLang="en-US" dirty="0"/>
              <a:t>파일은 </a:t>
            </a:r>
            <a:r>
              <a:rPr lang="en-US" altLang="ko-KR" dirty="0">
                <a:sym typeface="Wingdings" panose="05000000000000000000" pitchFamily="2" charset="2"/>
              </a:rPr>
              <a:t>/home/</a:t>
            </a:r>
            <a:r>
              <a:rPr lang="en-US" altLang="ko-KR" dirty="0" err="1">
                <a:sym typeface="Wingdings" panose="05000000000000000000" pitchFamily="2" charset="2"/>
              </a:rPr>
              <a:t>gpuadmin</a:t>
            </a:r>
            <a:r>
              <a:rPr lang="en-US" altLang="ko-KR" dirty="0">
                <a:sym typeface="Wingdings" panose="05000000000000000000" pitchFamily="2" charset="2"/>
              </a:rPr>
              <a:t>/seongje_gradio2 </a:t>
            </a:r>
            <a:r>
              <a:rPr lang="ko-KR" altLang="en-US" dirty="0">
                <a:sym typeface="Wingdings" panose="05000000000000000000" pitchFamily="2" charset="2"/>
              </a:rPr>
              <a:t>경로에 저장됨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현재 읽을 수 있는 </a:t>
            </a:r>
            <a:r>
              <a:rPr lang="en-US" altLang="ko-KR" dirty="0" err="1"/>
              <a:t>json</a:t>
            </a:r>
            <a:r>
              <a:rPr lang="ko-KR" altLang="en-US" dirty="0"/>
              <a:t>은 </a:t>
            </a:r>
            <a:r>
              <a:rPr lang="en-US" altLang="ko-KR" u="sng" dirty="0"/>
              <a:t>coco </a:t>
            </a:r>
            <a:r>
              <a:rPr lang="en-US" altLang="ko-KR" u="sng" dirty="0" err="1"/>
              <a:t>json</a:t>
            </a:r>
            <a:r>
              <a:rPr lang="en-US" altLang="ko-KR" u="sng" dirty="0"/>
              <a:t> </a:t>
            </a:r>
            <a:r>
              <a:rPr lang="ko-KR" altLang="en-US" u="sng" dirty="0"/>
              <a:t>형식</a:t>
            </a:r>
            <a:endParaRPr lang="en-US" altLang="ko-KR" u="sng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(X-</a:t>
            </a:r>
            <a:r>
              <a:rPr lang="en-US" altLang="ko-KR" dirty="0" err="1"/>
              <a:t>Anylabeling</a:t>
            </a:r>
            <a:r>
              <a:rPr lang="ko-KR" altLang="en-US" dirty="0"/>
              <a:t>에서 생성한 </a:t>
            </a:r>
            <a:r>
              <a:rPr lang="en-US" altLang="ko-KR" dirty="0" err="1"/>
              <a:t>json</a:t>
            </a:r>
            <a:r>
              <a:rPr lang="ko-KR" altLang="en-US" dirty="0"/>
              <a:t>은 읽을 수 없음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신규 레이블 생성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구현필요 기능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en-US" altLang="ko-KR" dirty="0" err="1"/>
              <a:t>edited.json</a:t>
            </a:r>
            <a:r>
              <a:rPr lang="ko-KR" altLang="en-US" dirty="0"/>
              <a:t>으로만 저장되는데</a:t>
            </a:r>
            <a:r>
              <a:rPr lang="en-US" altLang="ko-KR" dirty="0"/>
              <a:t>, </a:t>
            </a:r>
            <a:r>
              <a:rPr lang="ko-KR" altLang="en-US" dirty="0"/>
              <a:t>이미지와 같은 파일명으로 저장하기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- </a:t>
            </a:r>
            <a:r>
              <a:rPr lang="en-US" altLang="ko-KR" dirty="0" err="1"/>
              <a:t>json</a:t>
            </a:r>
            <a:r>
              <a:rPr lang="ko-KR" altLang="en-US" dirty="0"/>
              <a:t>을 다시 </a:t>
            </a:r>
            <a:r>
              <a:rPr lang="en-US" altLang="ko-KR" dirty="0"/>
              <a:t>txt</a:t>
            </a:r>
            <a:r>
              <a:rPr lang="ko-KR" altLang="en-US" dirty="0"/>
              <a:t>로 변환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3498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E04F-5AC3-9646-E6B6-78E8920F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6C38F47C-0C28-F586-0521-7AD2FB5266C0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5. Labeling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3DE9D2-F665-C7F7-D68C-A326750DDCA4}"/>
              </a:ext>
            </a:extLst>
          </p:cNvPr>
          <p:cNvSpPr txBox="1"/>
          <p:nvPr/>
        </p:nvSpPr>
        <p:spPr>
          <a:xfrm>
            <a:off x="698400" y="974534"/>
            <a:ext cx="11039100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학습데이터셋 생성</a:t>
            </a:r>
            <a:r>
              <a:rPr lang="en-US" altLang="ko-KR" dirty="0"/>
              <a:t>, </a:t>
            </a:r>
            <a:r>
              <a:rPr lang="ko-KR" altLang="en-US" dirty="0"/>
              <a:t>수정을 비롯한 레이블 편집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1) </a:t>
            </a:r>
            <a:r>
              <a:rPr lang="ko-KR" altLang="en-US" dirty="0"/>
              <a:t>이미지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2) </a:t>
            </a:r>
            <a:r>
              <a:rPr lang="ko-KR" altLang="en-US" dirty="0"/>
              <a:t>추론결과 </a:t>
            </a:r>
            <a:r>
              <a:rPr lang="en-US" altLang="ko-KR" dirty="0"/>
              <a:t>txt </a:t>
            </a:r>
            <a:r>
              <a:rPr lang="ko-KR" altLang="en-US" dirty="0"/>
              <a:t>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3) classes.txt </a:t>
            </a:r>
            <a:r>
              <a:rPr lang="ko-KR" altLang="en-US" dirty="0"/>
              <a:t>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4) Generate JSON </a:t>
            </a:r>
            <a:r>
              <a:rPr lang="ko-KR" altLang="en-US" dirty="0"/>
              <a:t>버튼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5) JSON </a:t>
            </a:r>
            <a:r>
              <a:rPr lang="ko-KR" altLang="en-US" dirty="0"/>
              <a:t>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6) Load Polygon </a:t>
            </a:r>
            <a:r>
              <a:rPr lang="ko-KR" altLang="en-US" dirty="0"/>
              <a:t>버튼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38D452-EDC4-C71F-8E32-283652FFF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166" y="1814195"/>
            <a:ext cx="7711034" cy="4808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F42E443-2893-E0C6-EB37-6CAD72AD3320}"/>
              </a:ext>
            </a:extLst>
          </p:cNvPr>
          <p:cNvSpPr/>
          <p:nvPr/>
        </p:nvSpPr>
        <p:spPr>
          <a:xfrm>
            <a:off x="5439712" y="2347616"/>
            <a:ext cx="1128728" cy="182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627AD-6A06-D54A-98FB-CCE1549AE1E2}"/>
              </a:ext>
            </a:extLst>
          </p:cNvPr>
          <p:cNvSpPr txBox="1"/>
          <p:nvPr/>
        </p:nvSpPr>
        <p:spPr>
          <a:xfrm>
            <a:off x="5359243" y="1993683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84875-BF27-2FD4-570B-BD97F2782F13}"/>
              </a:ext>
            </a:extLst>
          </p:cNvPr>
          <p:cNvSpPr txBox="1"/>
          <p:nvPr/>
        </p:nvSpPr>
        <p:spPr>
          <a:xfrm>
            <a:off x="7944909" y="1993682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BD459-B978-B986-B862-D303ED21A452}"/>
              </a:ext>
            </a:extLst>
          </p:cNvPr>
          <p:cNvSpPr txBox="1"/>
          <p:nvPr/>
        </p:nvSpPr>
        <p:spPr>
          <a:xfrm>
            <a:off x="9046250" y="2011155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58392F-F1AE-CC7E-A007-6F9766B4B91D}"/>
              </a:ext>
            </a:extLst>
          </p:cNvPr>
          <p:cNvSpPr txBox="1"/>
          <p:nvPr/>
        </p:nvSpPr>
        <p:spPr>
          <a:xfrm>
            <a:off x="10309334" y="1866761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C32008-2CE9-2334-B1F5-BE719E16FB7F}"/>
              </a:ext>
            </a:extLst>
          </p:cNvPr>
          <p:cNvSpPr/>
          <p:nvPr/>
        </p:nvSpPr>
        <p:spPr>
          <a:xfrm>
            <a:off x="4237575" y="2347616"/>
            <a:ext cx="1128728" cy="182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3F56C4-40C6-1339-EFFB-FDDCAA4B49C7}"/>
              </a:ext>
            </a:extLst>
          </p:cNvPr>
          <p:cNvSpPr/>
          <p:nvPr/>
        </p:nvSpPr>
        <p:spPr>
          <a:xfrm>
            <a:off x="8019683" y="2347616"/>
            <a:ext cx="1128728" cy="182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40E8A1F-BECE-4EDC-60F0-8F07C4C7B163}"/>
              </a:ext>
            </a:extLst>
          </p:cNvPr>
          <p:cNvSpPr/>
          <p:nvPr/>
        </p:nvSpPr>
        <p:spPr>
          <a:xfrm>
            <a:off x="9213483" y="2347616"/>
            <a:ext cx="1128728" cy="182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405FB69-567E-074E-7DBA-332811044DED}"/>
              </a:ext>
            </a:extLst>
          </p:cNvPr>
          <p:cNvSpPr/>
          <p:nvPr/>
        </p:nvSpPr>
        <p:spPr>
          <a:xfrm>
            <a:off x="10443210" y="2214266"/>
            <a:ext cx="1264919" cy="2317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6B99056-EB96-7812-643E-7D4FAE021677}"/>
              </a:ext>
            </a:extLst>
          </p:cNvPr>
          <p:cNvSpPr/>
          <p:nvPr/>
        </p:nvSpPr>
        <p:spPr>
          <a:xfrm>
            <a:off x="6679629" y="2231738"/>
            <a:ext cx="1264919" cy="2981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D2E397-3B25-F613-9B18-7310CD81849F}"/>
              </a:ext>
            </a:extLst>
          </p:cNvPr>
          <p:cNvSpPr txBox="1"/>
          <p:nvPr/>
        </p:nvSpPr>
        <p:spPr>
          <a:xfrm>
            <a:off x="4115115" y="2029599"/>
            <a:ext cx="4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⑤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054E0A-5757-53CE-7694-85BF72DF767F}"/>
              </a:ext>
            </a:extLst>
          </p:cNvPr>
          <p:cNvSpPr txBox="1"/>
          <p:nvPr/>
        </p:nvSpPr>
        <p:spPr>
          <a:xfrm>
            <a:off x="6603371" y="1866761"/>
            <a:ext cx="44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⑥</a:t>
            </a:r>
          </a:p>
        </p:txBody>
      </p:sp>
    </p:spTree>
    <p:extLst>
      <p:ext uri="{BB962C8B-B14F-4D97-AF65-F5344CB8AC3E}">
        <p14:creationId xmlns:p14="http://schemas.microsoft.com/office/powerpoint/2010/main" val="2535316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9DBE1-C808-B09D-6F90-6CD963B5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C190F6E-0466-B6DC-86D5-04B5BBE714C1}"/>
              </a:ext>
            </a:extLst>
          </p:cNvPr>
          <p:cNvSpPr/>
          <p:nvPr/>
        </p:nvSpPr>
        <p:spPr>
          <a:xfrm>
            <a:off x="1624739" y="2154265"/>
            <a:ext cx="8942522" cy="2549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b="1" dirty="0"/>
              <a:t>모델 추론결과 비교</a:t>
            </a:r>
          </a:p>
        </p:txBody>
      </p:sp>
    </p:spTree>
    <p:extLst>
      <p:ext uri="{BB962C8B-B14F-4D97-AF65-F5344CB8AC3E}">
        <p14:creationId xmlns:p14="http://schemas.microsoft.com/office/powerpoint/2010/main" val="2030764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F6B62-7597-6519-B5D4-B785E17E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15E88DB-DEB7-8E69-D9E4-A17947FFB0BF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6. </a:t>
            </a:r>
            <a:r>
              <a:rPr lang="ko-KR" altLang="en-US" sz="3200" dirty="0"/>
              <a:t>모델 추론결과 비교</a:t>
            </a:r>
            <a:endParaRPr lang="en-US" altLang="ko-KR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39C369-EE0A-EC38-235B-9B896FAA9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870" y="1070299"/>
            <a:ext cx="8842259" cy="51448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6240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1F289-0D7F-1489-5200-7615C2F6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487DEDD-2674-DDD8-3248-E48FF74B9396}"/>
              </a:ext>
            </a:extLst>
          </p:cNvPr>
          <p:cNvSpPr txBox="1">
            <a:spLocks/>
          </p:cNvSpPr>
          <p:nvPr/>
        </p:nvSpPr>
        <p:spPr>
          <a:xfrm>
            <a:off x="454500" y="235525"/>
            <a:ext cx="11283000" cy="6428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dirty="0"/>
              <a:t>6. </a:t>
            </a:r>
            <a:r>
              <a:rPr lang="ko-KR" altLang="en-US" sz="3200" dirty="0"/>
              <a:t>모델 추론결과 비교</a:t>
            </a:r>
            <a:endParaRPr lang="en-US" altLang="ko-KR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948152-3E1E-8ED8-2DE6-8AACA91B9DA2}"/>
              </a:ext>
            </a:extLst>
          </p:cNvPr>
          <p:cNvSpPr txBox="1"/>
          <p:nvPr/>
        </p:nvSpPr>
        <p:spPr>
          <a:xfrm>
            <a:off x="698400" y="974534"/>
            <a:ext cx="11039100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기존모델과 신규모델</a:t>
            </a:r>
            <a:r>
              <a:rPr lang="en-US" altLang="ko-KR" dirty="0"/>
              <a:t>(</a:t>
            </a:r>
            <a:r>
              <a:rPr lang="ko-KR" altLang="en-US" dirty="0"/>
              <a:t>재학습한</a:t>
            </a:r>
            <a:r>
              <a:rPr lang="en-US" altLang="ko-KR" dirty="0"/>
              <a:t>)</a:t>
            </a:r>
            <a:r>
              <a:rPr lang="ko-KR" altLang="en-US" dirty="0"/>
              <a:t>의 추론 성능을 실제 이미지 추론결과를 바탕으로 육안 비교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사용법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(</a:t>
            </a:r>
            <a:r>
              <a:rPr lang="ko-KR" altLang="en-US" dirty="0"/>
              <a:t>처음에 </a:t>
            </a:r>
            <a:r>
              <a:rPr lang="en-US" altLang="ko-KR" dirty="0"/>
              <a:t>‘</a:t>
            </a:r>
            <a:r>
              <a:rPr lang="ko-KR" altLang="en-US" b="1" dirty="0" err="1"/>
              <a:t>새로고침</a:t>
            </a:r>
            <a:r>
              <a:rPr lang="en-US" altLang="ko-KR" dirty="0"/>
              <a:t>’</a:t>
            </a:r>
            <a:r>
              <a:rPr lang="ko-KR" altLang="en-US" dirty="0"/>
              <a:t> 클릭 필수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1) </a:t>
            </a:r>
            <a:r>
              <a:rPr lang="ko-KR" altLang="en-US" dirty="0"/>
              <a:t>비교실험 할 원본 이미지 선택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2) </a:t>
            </a:r>
            <a:r>
              <a:rPr lang="ko-KR" altLang="en-US" dirty="0"/>
              <a:t>기존 모델 경로 선택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3) </a:t>
            </a:r>
            <a:r>
              <a:rPr lang="ko-KR" altLang="en-US" dirty="0"/>
              <a:t>신규 모델 경로 선택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4) </a:t>
            </a:r>
            <a:r>
              <a:rPr lang="ko-KR" altLang="en-US" dirty="0"/>
              <a:t>추론 결과 비교 버튼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7134BB-6A60-8597-1166-000779C65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197" y="2148178"/>
            <a:ext cx="7524804" cy="43782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7745C27-5B30-1FAC-BA48-2FA92C3A5022}"/>
              </a:ext>
            </a:extLst>
          </p:cNvPr>
          <p:cNvSpPr/>
          <p:nvPr/>
        </p:nvSpPr>
        <p:spPr>
          <a:xfrm>
            <a:off x="4508196" y="2666055"/>
            <a:ext cx="1892603" cy="18661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10D8F-7FAF-18CA-9BCC-455C50C67F9E}"/>
              </a:ext>
            </a:extLst>
          </p:cNvPr>
          <p:cNvSpPr txBox="1"/>
          <p:nvPr/>
        </p:nvSpPr>
        <p:spPr>
          <a:xfrm>
            <a:off x="4363830" y="2335179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6572F-274F-D60E-B016-47D9B3FF7B2B}"/>
              </a:ext>
            </a:extLst>
          </p:cNvPr>
          <p:cNvSpPr txBox="1"/>
          <p:nvPr/>
        </p:nvSpPr>
        <p:spPr>
          <a:xfrm>
            <a:off x="6400799" y="2355600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B016F5-962B-965F-F4C9-975373CDC472}"/>
              </a:ext>
            </a:extLst>
          </p:cNvPr>
          <p:cNvSpPr txBox="1"/>
          <p:nvPr/>
        </p:nvSpPr>
        <p:spPr>
          <a:xfrm>
            <a:off x="9167446" y="2335178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68F673-DD90-AA0C-69A7-80429486654A}"/>
              </a:ext>
            </a:extLst>
          </p:cNvPr>
          <p:cNvSpPr txBox="1"/>
          <p:nvPr/>
        </p:nvSpPr>
        <p:spPr>
          <a:xfrm>
            <a:off x="4286955" y="4719230"/>
            <a:ext cx="442482" cy="22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229C1C-3511-D4A4-A98D-A61A6C97360C}"/>
              </a:ext>
            </a:extLst>
          </p:cNvPr>
          <p:cNvSpPr/>
          <p:nvPr/>
        </p:nvSpPr>
        <p:spPr>
          <a:xfrm>
            <a:off x="6477673" y="2666055"/>
            <a:ext cx="2689773" cy="18661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0CAAE52-0D39-97F5-1E05-DB18185FA1B2}"/>
              </a:ext>
            </a:extLst>
          </p:cNvPr>
          <p:cNvSpPr/>
          <p:nvPr/>
        </p:nvSpPr>
        <p:spPr>
          <a:xfrm>
            <a:off x="9244320" y="2666055"/>
            <a:ext cx="2689773" cy="18661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03597B-A1BB-3EF3-303F-462688F1A1BB}"/>
              </a:ext>
            </a:extLst>
          </p:cNvPr>
          <p:cNvSpPr/>
          <p:nvPr/>
        </p:nvSpPr>
        <p:spPr>
          <a:xfrm>
            <a:off x="4585071" y="4959237"/>
            <a:ext cx="1789656" cy="2458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B4400F7-B093-98FE-D0EF-66B5F972C10C}"/>
              </a:ext>
            </a:extLst>
          </p:cNvPr>
          <p:cNvSpPr/>
          <p:nvPr/>
        </p:nvSpPr>
        <p:spPr>
          <a:xfrm>
            <a:off x="6477673" y="4959238"/>
            <a:ext cx="5456420" cy="156721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0070C0"/>
                </a:solidFill>
              </a:rPr>
              <a:t>육안 비교</a:t>
            </a:r>
            <a:endParaRPr lang="ko-KR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736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1267</Words>
  <Application>Microsoft Office PowerPoint</Application>
  <PresentationFormat>와이드스크린</PresentationFormat>
  <Paragraphs>235</Paragraphs>
  <Slides>29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1. 이미지 뷰어 - 서버</vt:lpstr>
      <vt:lpstr>1. 이미지 뷰어 - 로컬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상훈 김</dc:creator>
  <cp:lastModifiedBy>상훈 김</cp:lastModifiedBy>
  <cp:revision>11</cp:revision>
  <dcterms:created xsi:type="dcterms:W3CDTF">2025-12-31T04:32:39Z</dcterms:created>
  <dcterms:modified xsi:type="dcterms:W3CDTF">2026-01-02T01:17:25Z</dcterms:modified>
</cp:coreProperties>
</file>